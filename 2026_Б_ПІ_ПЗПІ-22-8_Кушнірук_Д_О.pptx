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</p:sldIdLst>
  <p:sldSz cx="9144000" cy="5143500" type="screen16x9"/>
  <p:notesSz cx="6858000" cy="9144000"/>
  <p:embeddedFontLst>
    <p:embeddedFont>
      <p:font typeface="Economica" panose="020B0604020202020204" charset="0"/>
      <p:regular r:id="rId15"/>
      <p:bold r:id="rId16"/>
      <p:italic r:id="rId17"/>
      <p:boldItalic r:id="rId18"/>
    </p:embeddedFont>
    <p:embeddedFont>
      <p:font typeface="Open Sans" panose="020B0606030504020204" pitchFamily="34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Помірний стиль 2 –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6" d="100"/>
          <a:sy n="146" d="100"/>
        </p:scale>
        <p:origin x="594" y="1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" name="Google Shape;60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7" name="Google Shape;7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5" name="Google Shape;8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" name="Google Shape;9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9" name="Google Shape;10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7" name="Google Shape;11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5" name="Google Shape;12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3" name="Google Shape;133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1" name="Google Shape;141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/>
          <a:lstStyle/>
          <a:p>
            <a:endParaRPr lang="ru-RU"/>
          </a:p>
        </p:txBody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/>
          <a:lstStyle/>
          <a:p>
            <a:endParaRPr lang="ru-RU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 flipH="1">
            <a:off x="7595938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"/>
            <a:headEnd type="none" w="sm" len="sm"/>
            <a:tailEnd type="none" w="sm" len="sm"/>
          </a:ln>
        </p:spPr>
      </p:sp>
      <p:sp>
        <p:nvSpPr>
          <p:cNvPr id="22" name="Google Shape;22;p4"/>
          <p:cNvSpPr/>
          <p:nvPr/>
        </p:nvSpPr>
        <p:spPr>
          <a:xfrm rot="10800000" flipH="1">
            <a:off x="466425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"/>
            <a:headEnd type="none" w="sm" len="sm"/>
            <a:tailEnd type="none" w="sm" len="sm"/>
          </a:ln>
        </p:spPr>
      </p:sp>
      <p:sp>
        <p:nvSpPr>
          <p:cNvPr id="23" name="Google Shape;23;p4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2805450" y="821300"/>
            <a:ext cx="3281100" cy="4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2400" noProof="0" dirty="0"/>
              <a:t>Тема роботи </a:t>
            </a:r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2028300" y="3610800"/>
            <a:ext cx="5087400" cy="153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7647"/>
              <a:buNone/>
            </a:pPr>
            <a:endParaRPr lang="uk-UA" noProof="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7647"/>
              <a:buNone/>
            </a:pPr>
            <a:r>
              <a:rPr lang="uk-UA" noProof="0" dirty="0"/>
              <a:t>Виконав: </a:t>
            </a:r>
            <a:r>
              <a:rPr lang="uk-UA" noProof="1"/>
              <a:t>Кушнірук</a:t>
            </a:r>
            <a:r>
              <a:rPr lang="uk-UA" noProof="0" dirty="0"/>
              <a:t> Д. О., ПЗПІ-22-8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7647"/>
              <a:buNone/>
            </a:pPr>
            <a:r>
              <a:rPr lang="uk-UA" noProof="0" dirty="0"/>
              <a:t>Керівник: ст. </a:t>
            </a:r>
            <a:r>
              <a:rPr lang="uk-UA" noProof="1"/>
              <a:t>викл</a:t>
            </a:r>
            <a:r>
              <a:rPr lang="uk-UA" noProof="0" dirty="0"/>
              <a:t>., кафедри ПІ Онищенко К. Г.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7647"/>
              <a:buNone/>
            </a:pPr>
            <a:endParaRPr lang="uk-UA" noProof="0" dirty="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7647"/>
              <a:buNone/>
            </a:pPr>
            <a:endParaRPr lang="uk-UA" noProof="0" dirty="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7647"/>
              <a:buNone/>
            </a:pPr>
            <a:r>
              <a:rPr lang="uk-UA" noProof="0" dirty="0"/>
              <a:t>__ червня 2026</a:t>
            </a:r>
          </a:p>
        </p:txBody>
      </p:sp>
      <p:pic>
        <p:nvPicPr>
          <p:cNvPr id="64" name="Google Shape;64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4725" y="170825"/>
            <a:ext cx="2133975" cy="38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68504" y="170825"/>
            <a:ext cx="1924921" cy="4391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E98D657-0962-7F68-776B-0C66B6947834}"/>
              </a:ext>
            </a:extLst>
          </p:cNvPr>
          <p:cNvSpPr txBox="1"/>
          <p:nvPr/>
        </p:nvSpPr>
        <p:spPr>
          <a:xfrm>
            <a:off x="1819140" y="2198440"/>
            <a:ext cx="621182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uk-UA" sz="2000" noProof="1">
                <a:solidFill>
                  <a:schemeClr val="dk1"/>
                </a:solidFill>
                <a:sym typeface="Economica"/>
              </a:rPr>
              <a:t>Веборієнтована</a:t>
            </a:r>
            <a:r>
              <a:rPr lang="uk-UA" sz="2000" b="1" i="0" noProof="0" dirty="0">
                <a:effectLst/>
              </a:rPr>
              <a:t> </a:t>
            </a:r>
            <a:r>
              <a:rPr lang="uk-UA" sz="2000" noProof="0" dirty="0">
                <a:solidFill>
                  <a:schemeClr val="dk1"/>
                </a:solidFill>
              </a:rPr>
              <a:t>програмна система для управління підписками та планування особистого бюджету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 noProof="0" dirty="0"/>
              <a:t>Мета роботи</a:t>
            </a:r>
          </a:p>
        </p:txBody>
      </p:sp>
      <p:sp>
        <p:nvSpPr>
          <p:cNvPr id="72" name="Google Shape;72;p14"/>
          <p:cNvSpPr txBox="1">
            <a:spLocks noGrp="1"/>
          </p:cNvSpPr>
          <p:nvPr>
            <p:ph type="body" idx="1"/>
          </p:nvPr>
        </p:nvSpPr>
        <p:spPr>
          <a:xfrm>
            <a:off x="311700" y="831300"/>
            <a:ext cx="8520600" cy="38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spcBef>
                <a:spcPts val="1200"/>
              </a:spcBef>
              <a:buNone/>
            </a:pPr>
            <a:r>
              <a:rPr lang="uk-UA" noProof="0" dirty="0"/>
              <a:t>	Метою роботи є створення програмної системи, що забезпечує централізоване зберігання даних про доходи, витрати та підписки, а також наочне відображення фінансового стану користувача. </a:t>
            </a:r>
          </a:p>
          <a:p>
            <a:pPr marL="0" lvl="0" indent="0">
              <a:spcBef>
                <a:spcPts val="1200"/>
              </a:spcBef>
              <a:buNone/>
            </a:pPr>
            <a:r>
              <a:rPr lang="uk-UA" noProof="0" dirty="0"/>
              <a:t>Ключові напрями розробки:</a:t>
            </a:r>
            <a:endParaRPr lang="uk-UA" noProof="0" dirty="0">
              <a:latin typeface="Economica"/>
              <a:ea typeface="Economica"/>
              <a:cs typeface="Economica"/>
              <a:sym typeface="Economica"/>
            </a:endParaRPr>
          </a:p>
          <a:p>
            <a:r>
              <a:rPr lang="uk-UA" noProof="0" dirty="0"/>
              <a:t>Зручність та інтуїтивність користувацького інтерфейсу;</a:t>
            </a:r>
          </a:p>
          <a:p>
            <a:r>
              <a:rPr lang="uk-UA" noProof="0" dirty="0"/>
              <a:t>Функціональність для ведення обліку доходів, витрат і підписок;</a:t>
            </a:r>
          </a:p>
          <a:p>
            <a:r>
              <a:rPr lang="uk-UA" noProof="0" dirty="0"/>
              <a:t>Наочність представлення фінансових показників за допомогою графіків і діаграм;</a:t>
            </a:r>
          </a:p>
          <a:p>
            <a:r>
              <a:rPr lang="uk-UA" noProof="0" dirty="0"/>
              <a:t>Доступність веб-застосунку на різних пристроях;</a:t>
            </a:r>
          </a:p>
          <a:p>
            <a:r>
              <a:rPr lang="uk-UA" noProof="0" dirty="0"/>
              <a:t>Корисність для планування та контролю особистого бюджету.</a:t>
            </a:r>
          </a:p>
          <a:p>
            <a:pPr marL="0" lvl="0" indent="0" algn="l" rtl="0">
              <a:lnSpc>
                <a:spcPct val="115000"/>
              </a:lnSpc>
              <a:spcBef>
                <a:spcPts val="2400"/>
              </a:spcBef>
              <a:spcAft>
                <a:spcPts val="1200"/>
              </a:spcAft>
              <a:buSzPts val="1800"/>
              <a:buNone/>
            </a:pPr>
            <a:endParaRPr lang="uk-UA" noProof="0" dirty="0">
              <a:latin typeface="Economica"/>
              <a:ea typeface="Economica"/>
              <a:cs typeface="Economica"/>
              <a:sym typeface="Economica"/>
            </a:endParaRPr>
          </a:p>
        </p:txBody>
      </p:sp>
      <p:pic>
        <p:nvPicPr>
          <p:cNvPr id="73" name="Google Shape;73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4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 sz="1400" b="0" i="0" u="none" strike="noStrike" cap="none" noProof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lang="uk-UA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700" y="-124863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 noProof="0" dirty="0"/>
              <a:t>Аналіз проблеми (аналіз існуючих рішень) </a:t>
            </a:r>
          </a:p>
        </p:txBody>
      </p:sp>
      <p:sp>
        <p:nvSpPr>
          <p:cNvPr id="80" name="Google Shape;80;p15"/>
          <p:cNvSpPr txBox="1">
            <a:spLocks noGrp="1"/>
          </p:cNvSpPr>
          <p:nvPr>
            <p:ph type="body" idx="1"/>
          </p:nvPr>
        </p:nvSpPr>
        <p:spPr>
          <a:xfrm>
            <a:off x="311700" y="706436"/>
            <a:ext cx="8520600" cy="39635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55000" lnSpcReduction="20000"/>
          </a:bodyPr>
          <a:lstStyle/>
          <a:p>
            <a:pPr marL="114300" indent="0">
              <a:buNone/>
            </a:pPr>
            <a:r>
              <a:rPr lang="uk-UA" sz="2600" cap="all" noProof="0" dirty="0">
                <a:highlight>
                  <a:srgbClr val="FFFFFF"/>
                </a:highlight>
              </a:rPr>
              <a:t>Актуальність</a:t>
            </a:r>
          </a:p>
          <a:p>
            <a:r>
              <a:rPr lang="uk-UA" sz="2600" noProof="0" dirty="0">
                <a:highlight>
                  <a:srgbClr val="FFFFFF"/>
                </a:highlight>
              </a:rPr>
              <a:t>зростання кількості електронних платежів та онлайн-підписок;</a:t>
            </a:r>
          </a:p>
          <a:p>
            <a:r>
              <a:rPr lang="uk-UA" sz="2600" noProof="0" dirty="0">
                <a:highlight>
                  <a:srgbClr val="FFFFFF"/>
                </a:highlight>
              </a:rPr>
              <a:t>необхідність централізованого контролю особистих фінансів;</a:t>
            </a:r>
          </a:p>
          <a:p>
            <a:r>
              <a:rPr lang="uk-UA" sz="2600" noProof="0" dirty="0">
                <a:highlight>
                  <a:srgbClr val="FFFFFF"/>
                </a:highlight>
              </a:rPr>
              <a:t>потреба в наочній фінансовій аналітиці та нагадуваннях про платежі.</a:t>
            </a:r>
          </a:p>
          <a:p>
            <a:pPr marL="0" lvl="0" indent="0">
              <a:spcBef>
                <a:spcPts val="1500"/>
              </a:spcBef>
              <a:spcAft>
                <a:spcPts val="1200"/>
              </a:spcAft>
              <a:buNone/>
            </a:pPr>
            <a:r>
              <a:rPr lang="uk-UA" sz="2600" noProof="0" dirty="0">
                <a:highlight>
                  <a:srgbClr val="FFFFFF"/>
                </a:highlight>
              </a:rPr>
              <a:t>   Переваги </a:t>
            </a:r>
            <a:r>
              <a:rPr lang="en-US" sz="2600" noProof="0" dirty="0">
                <a:highlight>
                  <a:srgbClr val="FFFFFF"/>
                </a:highlight>
              </a:rPr>
              <a:t>Moneta</a:t>
            </a:r>
            <a:endParaRPr lang="uk-UA" sz="2600" noProof="0" dirty="0">
              <a:highlight>
                <a:srgbClr val="FFFFFF"/>
              </a:highlight>
            </a:endParaRPr>
          </a:p>
          <a:p>
            <a:r>
              <a:rPr lang="uk-UA" sz="2600" noProof="0" dirty="0">
                <a:highlight>
                  <a:srgbClr val="FFFFFF"/>
                </a:highlight>
              </a:rPr>
              <a:t>облік доходів і витрат;</a:t>
            </a:r>
          </a:p>
          <a:p>
            <a:r>
              <a:rPr lang="uk-UA" sz="2600" noProof="0" dirty="0">
                <a:highlight>
                  <a:srgbClr val="FFFFFF"/>
                </a:highlight>
              </a:rPr>
              <a:t>контроль підписок;</a:t>
            </a:r>
          </a:p>
          <a:p>
            <a:r>
              <a:rPr lang="uk-UA" sz="2600" noProof="0" dirty="0">
                <a:highlight>
                  <a:srgbClr val="FFFFFF"/>
                </a:highlight>
              </a:rPr>
              <a:t>візуалізація фінансових показників;</a:t>
            </a:r>
          </a:p>
          <a:p>
            <a:r>
              <a:rPr lang="uk-UA" sz="2600" noProof="0" dirty="0">
                <a:highlight>
                  <a:srgbClr val="FFFFFF"/>
                </a:highlight>
              </a:rPr>
              <a:t>підтримка локалізації;</a:t>
            </a:r>
          </a:p>
          <a:p>
            <a:r>
              <a:rPr lang="uk-UA" sz="2600" noProof="0" dirty="0">
                <a:highlight>
                  <a:srgbClr val="FFFFFF"/>
                </a:highlight>
              </a:rPr>
              <a:t>єдина система управління особистими фінансами.</a:t>
            </a:r>
          </a:p>
          <a:p>
            <a:pPr marL="114300" indent="0">
              <a:buNone/>
            </a:pPr>
            <a:endParaRPr lang="uk-UA" sz="2600" b="1" noProof="0" dirty="0"/>
          </a:p>
          <a:p>
            <a:pPr marL="114300" indent="0">
              <a:buNone/>
            </a:pPr>
            <a:r>
              <a:rPr lang="uk-UA" sz="2600" noProof="0" dirty="0"/>
              <a:t>Недоліки існуючих рішень</a:t>
            </a:r>
          </a:p>
          <a:p>
            <a:r>
              <a:rPr lang="uk-UA" sz="2600" noProof="0" dirty="0"/>
              <a:t>частина функціоналу доступна лише за платною підпискою;</a:t>
            </a:r>
          </a:p>
          <a:p>
            <a:r>
              <a:rPr lang="uk-UA" sz="2600" noProof="0" dirty="0"/>
              <a:t>обмежені можливості управління підписками або фінансової аналітики;</a:t>
            </a:r>
          </a:p>
          <a:p>
            <a:r>
              <a:rPr lang="uk-UA" sz="2600" noProof="0" dirty="0"/>
              <a:t>недостатня локалізація для українських користувачів;</a:t>
            </a:r>
          </a:p>
          <a:p>
            <a:r>
              <a:rPr lang="uk-UA" sz="2600" noProof="0" dirty="0"/>
              <a:t>залежність від сторонніх сервісів інтеграції банківських даних.</a:t>
            </a:r>
          </a:p>
          <a:p>
            <a:pPr marL="114300" indent="0">
              <a:buNone/>
            </a:pPr>
            <a:endParaRPr lang="uk-UA" noProof="0" dirty="0"/>
          </a:p>
          <a:p>
            <a:pPr marL="0" lvl="0" indent="0">
              <a:spcBef>
                <a:spcPts val="1500"/>
              </a:spcBef>
              <a:spcAft>
                <a:spcPts val="1200"/>
              </a:spcAft>
              <a:buNone/>
            </a:pPr>
            <a:endParaRPr lang="uk-UA" noProof="0" dirty="0"/>
          </a:p>
        </p:txBody>
      </p:sp>
      <p:pic>
        <p:nvPicPr>
          <p:cNvPr id="81" name="Google Shape;81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5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 sz="1400" b="0" i="0" u="none" strike="noStrike" cap="none" noProof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lang="uk-UA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6"/>
          <p:cNvSpPr txBox="1">
            <a:spLocks noGrp="1"/>
          </p:cNvSpPr>
          <p:nvPr>
            <p:ph type="title"/>
          </p:nvPr>
        </p:nvSpPr>
        <p:spPr>
          <a:xfrm>
            <a:off x="311700" y="-186276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 noProof="0" dirty="0"/>
              <a:t>Постановка задачі та опис системи</a:t>
            </a:r>
          </a:p>
        </p:txBody>
      </p:sp>
      <p:sp>
        <p:nvSpPr>
          <p:cNvPr id="88" name="Google Shape;88;p16"/>
          <p:cNvSpPr txBox="1">
            <a:spLocks noGrp="1"/>
          </p:cNvSpPr>
          <p:nvPr>
            <p:ph type="body" idx="1"/>
          </p:nvPr>
        </p:nvSpPr>
        <p:spPr>
          <a:xfrm>
            <a:off x="311700" y="645024"/>
            <a:ext cx="8520600" cy="4269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spcBef>
                <a:spcPts val="1500"/>
              </a:spcBef>
              <a:buNone/>
            </a:pPr>
            <a:r>
              <a:rPr lang="uk-UA" noProof="0" dirty="0">
                <a:highlight>
                  <a:srgbClr val="FFFFFF"/>
                </a:highlight>
              </a:rPr>
              <a:t>	Розробка </a:t>
            </a:r>
            <a:r>
              <a:rPr lang="uk-UA" noProof="1">
                <a:highlight>
                  <a:srgbClr val="FFFFFF"/>
                </a:highlight>
              </a:rPr>
              <a:t>вебзастосунку</a:t>
            </a:r>
            <a:r>
              <a:rPr lang="uk-UA" noProof="0" dirty="0">
                <a:highlight>
                  <a:srgbClr val="FFFFFF"/>
                </a:highlight>
              </a:rPr>
              <a:t> </a:t>
            </a:r>
            <a:r>
              <a:rPr lang="en-US" noProof="0" dirty="0">
                <a:highlight>
                  <a:srgbClr val="FFFFFF"/>
                </a:highlight>
              </a:rPr>
              <a:t>Moneta</a:t>
            </a:r>
            <a:r>
              <a:rPr lang="uk-UA" noProof="0" dirty="0">
                <a:highlight>
                  <a:srgbClr val="FFFFFF"/>
                </a:highlight>
              </a:rPr>
              <a:t> для управління особистими фінансами, що об'єднує облік доходів і витрат, контроль підписок, фінансову аналітику та систему нагадувань.</a:t>
            </a:r>
            <a:endParaRPr lang="uk-UA" noProof="0" dirty="0">
              <a:highlight>
                <a:srgbClr val="FFFFFF"/>
              </a:highlight>
              <a:latin typeface="Economica"/>
              <a:ea typeface="Economica"/>
              <a:cs typeface="Economica"/>
              <a:sym typeface="Economica"/>
            </a:endParaRPr>
          </a:p>
          <a:p>
            <a:pPr marL="0" lvl="0" indent="0">
              <a:spcBef>
                <a:spcPts val="1500"/>
              </a:spcBef>
              <a:buNone/>
            </a:pPr>
            <a:r>
              <a:rPr lang="uk-UA" noProof="0" dirty="0"/>
              <a:t>Основні завдання:</a:t>
            </a:r>
          </a:p>
          <a:p>
            <a:r>
              <a:rPr lang="uk-UA" noProof="0" dirty="0"/>
              <a:t>розробити архітектуру </a:t>
            </a:r>
            <a:r>
              <a:rPr lang="uk-UA" noProof="1"/>
              <a:t>вебзастосунку</a:t>
            </a:r>
            <a:r>
              <a:rPr lang="uk-UA" noProof="0" dirty="0"/>
              <a:t> на базі Next.js та </a:t>
            </a:r>
            <a:r>
              <a:rPr lang="uk-UA" noProof="1"/>
              <a:t>TypeScript</a:t>
            </a:r>
            <a:r>
              <a:rPr lang="uk-UA" noProof="0" dirty="0"/>
              <a:t>;</a:t>
            </a:r>
          </a:p>
          <a:p>
            <a:r>
              <a:rPr lang="uk-UA" noProof="0" dirty="0"/>
              <a:t>реалізувати облік доходів, витрат і бюджетів;</a:t>
            </a:r>
          </a:p>
          <a:p>
            <a:r>
              <a:rPr lang="uk-UA" noProof="0" dirty="0"/>
              <a:t>створити систему відстеження підписок та нагадувань про платежі;</a:t>
            </a:r>
          </a:p>
          <a:p>
            <a:r>
              <a:rPr lang="uk-UA" noProof="0" dirty="0"/>
              <a:t>розробити аналітичні панелі з графіками та статистикою;</a:t>
            </a:r>
          </a:p>
          <a:p>
            <a:r>
              <a:rPr lang="uk-UA" noProof="0" dirty="0"/>
              <a:t>забезпечити локалізацію інтерфейсу;</a:t>
            </a:r>
          </a:p>
          <a:p>
            <a:r>
              <a:rPr lang="uk-UA" noProof="0" dirty="0"/>
              <a:t>реалізувати безпечне зберігання даних користувачів;</a:t>
            </a:r>
          </a:p>
          <a:p>
            <a:r>
              <a:rPr lang="uk-UA" noProof="0" dirty="0"/>
              <a:t>створити зручний та інтуїтивний користувацький інтерфейс.</a:t>
            </a:r>
          </a:p>
          <a:p>
            <a:pPr marL="0" lvl="0" indent="0">
              <a:spcBef>
                <a:spcPts val="1500"/>
              </a:spcBef>
              <a:buNone/>
            </a:pPr>
            <a:endParaRPr lang="uk-UA" noProof="0" dirty="0">
              <a:latin typeface="Economica"/>
              <a:ea typeface="Economica"/>
              <a:cs typeface="Economica"/>
              <a:sym typeface="Economica"/>
            </a:endParaRPr>
          </a:p>
        </p:txBody>
      </p:sp>
      <p:pic>
        <p:nvPicPr>
          <p:cNvPr id="89" name="Google Shape;89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6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 sz="1400" b="0" i="0" u="none" strike="noStrike" cap="none" noProof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lang="uk-UA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7"/>
          <p:cNvSpPr txBox="1">
            <a:spLocks noGrp="1"/>
          </p:cNvSpPr>
          <p:nvPr>
            <p:ph type="title"/>
          </p:nvPr>
        </p:nvSpPr>
        <p:spPr>
          <a:xfrm>
            <a:off x="311700" y="-148309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 noProof="0" dirty="0"/>
              <a:t>Вибір технологій розробки </a:t>
            </a:r>
          </a:p>
        </p:txBody>
      </p:sp>
      <p:sp>
        <p:nvSpPr>
          <p:cNvPr id="96" name="Google Shape;96;p17"/>
          <p:cNvSpPr txBox="1">
            <a:spLocks noGrp="1"/>
          </p:cNvSpPr>
          <p:nvPr>
            <p:ph type="body" idx="1"/>
          </p:nvPr>
        </p:nvSpPr>
        <p:spPr>
          <a:xfrm>
            <a:off x="311700" y="682991"/>
            <a:ext cx="8520600" cy="3896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spcBef>
                <a:spcPts val="1500"/>
              </a:spcBef>
              <a:buNone/>
            </a:pPr>
            <a:r>
              <a:rPr lang="uk-UA" sz="1500" noProof="1">
                <a:highlight>
                  <a:srgbClr val="FFFFFF"/>
                </a:highlight>
              </a:rPr>
              <a:t>Frontend</a:t>
            </a:r>
            <a:endParaRPr lang="uk-UA" sz="1500" noProof="0" dirty="0">
              <a:highlight>
                <a:srgbClr val="FFFFFF"/>
              </a:highlight>
            </a:endParaRPr>
          </a:p>
          <a:p>
            <a:r>
              <a:rPr lang="uk-UA" sz="1500" noProof="0" dirty="0"/>
              <a:t>Next.js, </a:t>
            </a:r>
            <a:r>
              <a:rPr lang="uk-UA" sz="1500" noProof="1"/>
              <a:t>React</a:t>
            </a:r>
            <a:r>
              <a:rPr lang="uk-UA" sz="1500" noProof="0" dirty="0"/>
              <a:t>, </a:t>
            </a:r>
            <a:r>
              <a:rPr lang="uk-UA" sz="1500" noProof="1"/>
              <a:t>TypeScript</a:t>
            </a:r>
            <a:endParaRPr lang="uk-UA" sz="1500" noProof="0" dirty="0"/>
          </a:p>
          <a:p>
            <a:r>
              <a:rPr lang="uk-UA" sz="1500" noProof="0" dirty="0"/>
              <a:t>UI / UX: сучасні </a:t>
            </a:r>
            <a:r>
              <a:rPr lang="uk-UA" sz="1500" noProof="1"/>
              <a:t>React-компоненти</a:t>
            </a:r>
            <a:r>
              <a:rPr lang="uk-UA" sz="1500" noProof="0" dirty="0"/>
              <a:t>, адаптивний дизайн</a:t>
            </a:r>
          </a:p>
          <a:p>
            <a:pPr marL="0" lvl="0" indent="0">
              <a:spcBef>
                <a:spcPts val="1500"/>
              </a:spcBef>
              <a:buNone/>
            </a:pPr>
            <a:r>
              <a:rPr lang="uk-UA" sz="1500" noProof="1"/>
              <a:t>Backend</a:t>
            </a:r>
            <a:r>
              <a:rPr lang="uk-UA" sz="1500" b="1" noProof="0" dirty="0"/>
              <a:t> </a:t>
            </a:r>
          </a:p>
          <a:p>
            <a:r>
              <a:rPr lang="uk-UA" sz="1500" noProof="1"/>
              <a:t>Backend</a:t>
            </a:r>
            <a:r>
              <a:rPr lang="uk-UA" sz="1500" noProof="0" dirty="0"/>
              <a:t> API: Next.js API </a:t>
            </a:r>
            <a:r>
              <a:rPr lang="uk-UA" sz="1500" noProof="1"/>
              <a:t>Routes</a:t>
            </a:r>
            <a:endParaRPr lang="uk-UA" sz="1500" noProof="0" dirty="0"/>
          </a:p>
          <a:p>
            <a:r>
              <a:rPr lang="uk-UA" sz="1500" noProof="0" dirty="0"/>
              <a:t>База даних: </a:t>
            </a:r>
            <a:r>
              <a:rPr lang="uk-UA" sz="1500" noProof="1"/>
              <a:t>MongoDB</a:t>
            </a:r>
            <a:r>
              <a:rPr lang="uk-UA" sz="1500" noProof="0" dirty="0"/>
              <a:t>, </a:t>
            </a:r>
            <a:r>
              <a:rPr lang="uk-UA" sz="1500" noProof="1"/>
              <a:t>Mongoose</a:t>
            </a:r>
            <a:endParaRPr lang="uk-UA" sz="1500" noProof="0" dirty="0"/>
          </a:p>
          <a:p>
            <a:r>
              <a:rPr lang="uk-UA" sz="1500" noProof="0" dirty="0"/>
              <a:t>Автентифікація: </a:t>
            </a:r>
            <a:r>
              <a:rPr lang="uk-UA" sz="1500" noProof="1"/>
              <a:t>NextAuth</a:t>
            </a:r>
            <a:endParaRPr lang="uk-UA" sz="1500" noProof="0" dirty="0"/>
          </a:p>
          <a:p>
            <a:r>
              <a:rPr lang="uk-UA" sz="1500" noProof="0" dirty="0"/>
              <a:t>Інтернаціоналізація: </a:t>
            </a:r>
            <a:r>
              <a:rPr lang="uk-UA" sz="1500" noProof="1"/>
              <a:t>next-intl</a:t>
            </a:r>
            <a:endParaRPr lang="uk-UA" sz="1500" noProof="0" dirty="0"/>
          </a:p>
          <a:p>
            <a:pPr marL="0" lvl="0" indent="0">
              <a:spcBef>
                <a:spcPts val="1500"/>
              </a:spcBef>
              <a:buNone/>
            </a:pPr>
            <a:r>
              <a:rPr lang="uk-UA" sz="1500" noProof="0" dirty="0"/>
              <a:t>Інструменти розробки</a:t>
            </a:r>
          </a:p>
          <a:p>
            <a:r>
              <a:rPr lang="uk-UA" sz="1500" noProof="0" dirty="0"/>
              <a:t>Інструменти розробки: </a:t>
            </a:r>
            <a:r>
              <a:rPr lang="uk-UA" sz="1500" noProof="1"/>
              <a:t>Visual Studio Code</a:t>
            </a:r>
            <a:endParaRPr lang="uk-UA" sz="1500" noProof="0" dirty="0"/>
          </a:p>
          <a:p>
            <a:r>
              <a:rPr lang="uk-UA" sz="1500" noProof="0" dirty="0"/>
              <a:t>Інтеграції: платіжні сервіси (</a:t>
            </a:r>
            <a:r>
              <a:rPr lang="uk-UA" sz="1500" noProof="1"/>
              <a:t>LiqPay</a:t>
            </a:r>
            <a:r>
              <a:rPr lang="uk-UA" sz="1500" noProof="0" dirty="0"/>
              <a:t>), API курсів валют</a:t>
            </a:r>
          </a:p>
          <a:p>
            <a:pPr marL="0" lvl="0" indent="0">
              <a:spcBef>
                <a:spcPts val="1500"/>
              </a:spcBef>
              <a:buNone/>
            </a:pPr>
            <a:endParaRPr lang="uk-UA" noProof="0" dirty="0">
              <a:latin typeface="Economica"/>
              <a:ea typeface="Economica"/>
              <a:cs typeface="Economica"/>
              <a:sym typeface="Economica"/>
            </a:endParaRPr>
          </a:p>
        </p:txBody>
      </p:sp>
      <p:pic>
        <p:nvPicPr>
          <p:cNvPr id="97" name="Google Shape;97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7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 sz="1400" b="0" i="0" u="none" strike="noStrike" cap="none" noProof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lang="uk-UA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8"/>
          <p:cNvSpPr txBox="1">
            <a:spLocks noGrp="1"/>
          </p:cNvSpPr>
          <p:nvPr>
            <p:ph type="title"/>
          </p:nvPr>
        </p:nvSpPr>
        <p:spPr>
          <a:xfrm>
            <a:off x="268925" y="349659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 noProof="0" dirty="0"/>
              <a:t>Архітектура створеного програмного забезпечення</a:t>
            </a:r>
          </a:p>
        </p:txBody>
      </p:sp>
      <p:pic>
        <p:nvPicPr>
          <p:cNvPr id="105" name="Google Shape;105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8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 sz="1400" b="0" i="0" u="none" strike="noStrike" cap="none" noProof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lang="uk-UA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7D4B19C-0D8A-E42B-5BD8-8A67D4B564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996" y="1028902"/>
            <a:ext cx="2732460" cy="220415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BC57E35-F2D7-DE90-B136-711F5ECB92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9404" y="883113"/>
            <a:ext cx="2769582" cy="2044423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AA0BC0F-2C7C-ED89-9639-5240EF39C0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15917" y="2251879"/>
            <a:ext cx="3063487" cy="190130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7B05024-091B-5008-423D-605FBD846C5F}"/>
              </a:ext>
            </a:extLst>
          </p:cNvPr>
          <p:cNvSpPr txBox="1"/>
          <p:nvPr/>
        </p:nvSpPr>
        <p:spPr>
          <a:xfrm>
            <a:off x="223996" y="3292519"/>
            <a:ext cx="273246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1500"/>
              </a:spcBef>
              <a:spcAft>
                <a:spcPts val="1200"/>
              </a:spcAft>
              <a:buNone/>
            </a:pPr>
            <a:r>
              <a:rPr lang="uk-UA" cap="all" noProof="0" dirty="0"/>
              <a:t>Рисунок 1 - </a:t>
            </a:r>
            <a:r>
              <a:rPr lang="en-US" cap="all" noProof="0" dirty="0"/>
              <a:t>Use-Case</a:t>
            </a:r>
            <a:r>
              <a:rPr lang="uk-UA" cap="all" noProof="0" dirty="0"/>
              <a:t> діаграма застосунку </a:t>
            </a:r>
            <a:r>
              <a:rPr lang="en-US" cap="all" noProof="0" dirty="0"/>
              <a:t>Moneta</a:t>
            </a:r>
            <a:r>
              <a:rPr lang="uk-UA" cap="all" noProof="0" dirty="0"/>
              <a:t> (рисунок виконано самостійно)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768CCE-42F0-461A-5587-1272D7DFBDB5}"/>
              </a:ext>
            </a:extLst>
          </p:cNvPr>
          <p:cNvSpPr txBox="1"/>
          <p:nvPr/>
        </p:nvSpPr>
        <p:spPr>
          <a:xfrm>
            <a:off x="6376873" y="2974256"/>
            <a:ext cx="276712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1500"/>
              </a:spcBef>
              <a:spcAft>
                <a:spcPts val="1200"/>
              </a:spcAft>
              <a:buNone/>
            </a:pPr>
            <a:r>
              <a:rPr lang="uk-UA" cap="all" noProof="0" dirty="0"/>
              <a:t>Рисунок 2 - </a:t>
            </a:r>
            <a:r>
              <a:rPr lang="en-US" cap="all" noProof="0" dirty="0"/>
              <a:t>Sequence</a:t>
            </a:r>
            <a:r>
              <a:rPr lang="uk-UA" cap="all" noProof="0" dirty="0"/>
              <a:t> </a:t>
            </a:r>
            <a:r>
              <a:rPr lang="en-US" cap="all" noProof="0" dirty="0"/>
              <a:t>Diagram</a:t>
            </a:r>
            <a:r>
              <a:rPr lang="uk-UA" cap="all" noProof="0" dirty="0"/>
              <a:t> застосунку </a:t>
            </a:r>
            <a:r>
              <a:rPr lang="en-US" cap="all" noProof="0" dirty="0"/>
              <a:t>Moneta</a:t>
            </a:r>
            <a:r>
              <a:rPr lang="uk-UA" cap="all" noProof="0" dirty="0"/>
              <a:t> (рисунок виконано самостійно)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73A839-2F70-ECF2-00D2-203A15FAF059}"/>
              </a:ext>
            </a:extLst>
          </p:cNvPr>
          <p:cNvSpPr txBox="1"/>
          <p:nvPr/>
        </p:nvSpPr>
        <p:spPr>
          <a:xfrm>
            <a:off x="3174641" y="4246626"/>
            <a:ext cx="320223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1500"/>
              </a:spcBef>
              <a:spcAft>
                <a:spcPts val="1200"/>
              </a:spcAft>
              <a:buNone/>
            </a:pPr>
            <a:r>
              <a:rPr lang="uk-UA" cap="all" noProof="0" dirty="0"/>
              <a:t>Рисунок 3 – Структура бази даних </a:t>
            </a:r>
            <a:r>
              <a:rPr lang="en-US" cap="all" noProof="0" dirty="0"/>
              <a:t>Moneta</a:t>
            </a:r>
            <a:r>
              <a:rPr lang="uk-UA" cap="all" noProof="0" dirty="0"/>
              <a:t>  (рисунок виконано самостійно)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>
            <a:spLocks noGrp="1"/>
          </p:cNvSpPr>
          <p:nvPr>
            <p:ph type="title"/>
          </p:nvPr>
        </p:nvSpPr>
        <p:spPr>
          <a:xfrm>
            <a:off x="311700" y="312400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 noProof="0" dirty="0"/>
              <a:t>Опис програмного забезпечення, що було використано у дослідженні</a:t>
            </a:r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1"/>
          </p:nvPr>
        </p:nvSpPr>
        <p:spPr>
          <a:xfrm>
            <a:off x="311700" y="1143700"/>
            <a:ext cx="8520600" cy="368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114300" indent="0">
              <a:buNone/>
            </a:pPr>
            <a:r>
              <a:rPr lang="uk-UA" noProof="0" dirty="0">
                <a:highlight>
                  <a:srgbClr val="FFFFFF"/>
                </a:highlight>
              </a:rPr>
              <a:t>	</a:t>
            </a:r>
            <a:r>
              <a:rPr lang="en-US" noProof="0" dirty="0">
                <a:highlight>
                  <a:srgbClr val="FFFFFF"/>
                </a:highlight>
              </a:rPr>
              <a:t>Moneta</a:t>
            </a:r>
            <a:r>
              <a:rPr lang="uk-UA" noProof="0" dirty="0">
                <a:highlight>
                  <a:srgbClr val="FFFFFF"/>
                </a:highlight>
              </a:rPr>
              <a:t> побудована за модульною багаторівневою архітектурою.</a:t>
            </a:r>
          </a:p>
          <a:p>
            <a:pPr marL="114300" indent="0">
              <a:buNone/>
            </a:pPr>
            <a:r>
              <a:rPr lang="uk-UA" noProof="0" dirty="0">
                <a:highlight>
                  <a:srgbClr val="FFFFFF"/>
                </a:highlight>
              </a:rPr>
              <a:t>Використовується Next.js (</a:t>
            </a:r>
            <a:r>
              <a:rPr lang="en-US" noProof="0" dirty="0">
                <a:highlight>
                  <a:srgbClr val="FFFFFF"/>
                </a:highlight>
              </a:rPr>
              <a:t>full-stack</a:t>
            </a:r>
            <a:r>
              <a:rPr lang="uk-UA" noProof="0" dirty="0">
                <a:highlight>
                  <a:srgbClr val="FFFFFF"/>
                </a:highlight>
              </a:rPr>
              <a:t>) як основа клієнтської та серверної частини.</a:t>
            </a:r>
          </a:p>
          <a:p>
            <a:pPr marL="114300" indent="0">
              <a:buNone/>
            </a:pPr>
            <a:r>
              <a:rPr lang="uk-UA" noProof="0" dirty="0">
                <a:highlight>
                  <a:srgbClr val="FFFFFF"/>
                </a:highlight>
              </a:rPr>
              <a:t>Рівні системи:</a:t>
            </a:r>
          </a:p>
          <a:p>
            <a:r>
              <a:rPr lang="uk-UA" noProof="0" dirty="0">
                <a:highlight>
                  <a:srgbClr val="FFFFFF"/>
                </a:highlight>
              </a:rPr>
              <a:t>UI-рівень (</a:t>
            </a:r>
            <a:r>
              <a:rPr lang="en-US" noProof="1">
                <a:highlight>
                  <a:srgbClr val="FFFFFF"/>
                </a:highlight>
              </a:rPr>
              <a:t>React-компоненти</a:t>
            </a:r>
            <a:r>
              <a:rPr lang="uk-UA" noProof="0" dirty="0">
                <a:highlight>
                  <a:srgbClr val="FFFFFF"/>
                </a:highlight>
              </a:rPr>
              <a:t>, сторінки, </a:t>
            </a:r>
            <a:r>
              <a:rPr lang="en-US" noProof="1">
                <a:highlight>
                  <a:srgbClr val="FFFFFF"/>
                </a:highlight>
              </a:rPr>
              <a:t>дашборди</a:t>
            </a:r>
            <a:r>
              <a:rPr lang="uk-UA" noProof="0" dirty="0">
                <a:highlight>
                  <a:srgbClr val="FFFFFF"/>
                </a:highlight>
              </a:rPr>
              <a:t>)</a:t>
            </a:r>
          </a:p>
          <a:p>
            <a:r>
              <a:rPr lang="uk-UA" noProof="0" dirty="0">
                <a:highlight>
                  <a:srgbClr val="FFFFFF"/>
                </a:highlight>
              </a:rPr>
              <a:t>Рівень бізнес-логіки (модулі бюджету, підписок, аналітики)</a:t>
            </a:r>
          </a:p>
          <a:p>
            <a:r>
              <a:rPr lang="uk-UA" noProof="0" dirty="0">
                <a:highlight>
                  <a:srgbClr val="FFFFFF"/>
                </a:highlight>
              </a:rPr>
              <a:t>API-рівень (Next.js API </a:t>
            </a:r>
            <a:r>
              <a:rPr lang="en-US" noProof="0" dirty="0">
                <a:highlight>
                  <a:srgbClr val="FFFFFF"/>
                </a:highlight>
              </a:rPr>
              <a:t>Routes</a:t>
            </a:r>
            <a:r>
              <a:rPr lang="uk-UA" noProof="0" dirty="0">
                <a:highlight>
                  <a:srgbClr val="FFFFFF"/>
                </a:highlight>
              </a:rPr>
              <a:t>)</a:t>
            </a:r>
          </a:p>
          <a:p>
            <a:r>
              <a:rPr lang="uk-UA" noProof="0" dirty="0">
                <a:highlight>
                  <a:srgbClr val="FFFFFF"/>
                </a:highlight>
              </a:rPr>
              <a:t>Рівень даних (</a:t>
            </a:r>
            <a:r>
              <a:rPr lang="en-US" noProof="0" dirty="0">
                <a:highlight>
                  <a:srgbClr val="FFFFFF"/>
                </a:highlight>
              </a:rPr>
              <a:t>MongoDB</a:t>
            </a:r>
            <a:r>
              <a:rPr lang="uk-UA" noProof="0" dirty="0">
                <a:highlight>
                  <a:srgbClr val="FFFFFF"/>
                </a:highlight>
              </a:rPr>
              <a:t> + </a:t>
            </a:r>
            <a:r>
              <a:rPr lang="en-US" noProof="0" dirty="0">
                <a:highlight>
                  <a:srgbClr val="FFFFFF"/>
                </a:highlight>
              </a:rPr>
              <a:t>Mongoose</a:t>
            </a:r>
            <a:r>
              <a:rPr lang="uk-UA" noProof="0" dirty="0">
                <a:highlight>
                  <a:srgbClr val="FFFFFF"/>
                </a:highlight>
              </a:rPr>
              <a:t>)</a:t>
            </a:r>
          </a:p>
          <a:p>
            <a:pPr marL="114300" indent="0">
              <a:buNone/>
            </a:pPr>
            <a:r>
              <a:rPr lang="uk-UA" noProof="0" dirty="0">
                <a:highlight>
                  <a:srgbClr val="FFFFFF"/>
                </a:highlight>
              </a:rPr>
              <a:t>Авторизація реалізована через </a:t>
            </a:r>
            <a:r>
              <a:rPr lang="en-US" noProof="1">
                <a:highlight>
                  <a:srgbClr val="FFFFFF"/>
                </a:highlight>
              </a:rPr>
              <a:t>NextAuth</a:t>
            </a:r>
            <a:r>
              <a:rPr lang="uk-UA" noProof="0" dirty="0">
                <a:highlight>
                  <a:srgbClr val="FFFFFF"/>
                </a:highlight>
              </a:rPr>
              <a:t>.</a:t>
            </a:r>
          </a:p>
          <a:p>
            <a:pPr marL="114300" indent="0">
              <a:buNone/>
            </a:pPr>
            <a:r>
              <a:rPr lang="uk-UA" noProof="0" dirty="0">
                <a:highlight>
                  <a:srgbClr val="FFFFFF"/>
                </a:highlight>
              </a:rPr>
              <a:t>Обмін даними відбувається через REST API у форматі JSON.</a:t>
            </a:r>
          </a:p>
          <a:p>
            <a:pPr marL="114300" indent="0">
              <a:buNone/>
            </a:pPr>
            <a:r>
              <a:rPr lang="uk-UA" noProof="0" dirty="0">
                <a:highlight>
                  <a:srgbClr val="FFFFFF"/>
                </a:highlight>
              </a:rPr>
              <a:t>Реалізовано інтеграції із зовнішніми сервісами (курси валют, платежі, </a:t>
            </a:r>
            <a:r>
              <a:rPr lang="en-US" noProof="0" dirty="0">
                <a:highlight>
                  <a:srgbClr val="FFFFFF"/>
                </a:highlight>
              </a:rPr>
              <a:t>webhook-и</a:t>
            </a:r>
            <a:r>
              <a:rPr lang="uk-UA" noProof="0" dirty="0">
                <a:highlight>
                  <a:srgbClr val="FFFFFF"/>
                </a:highlight>
              </a:rPr>
              <a:t>).</a:t>
            </a:r>
          </a:p>
          <a:p>
            <a:pPr marL="114300" indent="0">
              <a:buNone/>
            </a:pPr>
            <a:r>
              <a:rPr lang="uk-UA" noProof="0" dirty="0">
                <a:highlight>
                  <a:srgbClr val="FFFFFF"/>
                </a:highlight>
              </a:rPr>
              <a:t>Архітектура забезпечує масштабованість, модульність та легкість супроводу.</a:t>
            </a:r>
          </a:p>
          <a:p>
            <a:pPr marL="0" lvl="0" indent="0" algn="l" rtl="0">
              <a:lnSpc>
                <a:spcPct val="115000"/>
              </a:lnSpc>
              <a:spcBef>
                <a:spcPts val="1500"/>
              </a:spcBef>
              <a:spcAft>
                <a:spcPts val="1200"/>
              </a:spcAft>
              <a:buSzPts val="1800"/>
              <a:buNone/>
            </a:pPr>
            <a:endParaRPr lang="uk-UA" noProof="0" dirty="0">
              <a:latin typeface="Economica"/>
              <a:ea typeface="Economica"/>
              <a:cs typeface="Economica"/>
              <a:sym typeface="Economica"/>
            </a:endParaRPr>
          </a:p>
        </p:txBody>
      </p:sp>
      <p:pic>
        <p:nvPicPr>
          <p:cNvPr id="113" name="Google Shape;113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9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 sz="1400" b="0" i="0" u="none" strike="noStrike" cap="none" noProof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lang="uk-UA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311700" y="-92038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 noProof="0" dirty="0"/>
              <a:t>Дизайн системи</a:t>
            </a:r>
          </a:p>
        </p:txBody>
      </p:sp>
      <p:pic>
        <p:nvPicPr>
          <p:cNvPr id="121" name="Google Shape;121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0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 sz="1400" b="0" i="0" u="none" strike="noStrike" cap="none" noProof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lang="uk-UA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9358CF-BA04-3DAB-4C2A-4B39F8F7173D}"/>
              </a:ext>
            </a:extLst>
          </p:cNvPr>
          <p:cNvSpPr txBox="1"/>
          <p:nvPr/>
        </p:nvSpPr>
        <p:spPr>
          <a:xfrm>
            <a:off x="5265467" y="739262"/>
            <a:ext cx="409406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uk-UA" sz="1600" noProof="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Послідовність роботи: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sz="1600" noProof="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авторизація користувача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sz="1600" noProof="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отримання даних через API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sz="1600" noProof="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перевірка та завантаження з кешу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sz="1600" noProof="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оновлення даних із сервера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sz="1600" noProof="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відображення результатів у UI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F79D04-7F8B-80FE-F4A8-36F72535E2D5}"/>
              </a:ext>
            </a:extLst>
          </p:cNvPr>
          <p:cNvSpPr txBox="1"/>
          <p:nvPr/>
        </p:nvSpPr>
        <p:spPr>
          <a:xfrm>
            <a:off x="3130997" y="2944355"/>
            <a:ext cx="3419856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uk-UA" sz="1600" noProof="0" dirty="0"/>
              <a:t>Технології: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sz="1600" noProof="0" dirty="0"/>
              <a:t>Next.js, </a:t>
            </a:r>
            <a:r>
              <a:rPr lang="uk-UA" sz="1600" noProof="1"/>
              <a:t>React, TypeScript </a:t>
            </a:r>
            <a:endParaRPr lang="uk-UA" sz="16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sz="1600" noProof="1"/>
              <a:t>MongoDB</a:t>
            </a:r>
            <a:r>
              <a:rPr lang="uk-UA" sz="1600" noProof="0" dirty="0"/>
              <a:t>, </a:t>
            </a:r>
            <a:r>
              <a:rPr lang="uk-UA" sz="1600" noProof="1"/>
              <a:t>Mongoose</a:t>
            </a:r>
            <a:r>
              <a:rPr lang="uk-UA" sz="1600" noProof="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sz="1600" noProof="1"/>
              <a:t>NextAuth</a:t>
            </a:r>
            <a:r>
              <a:rPr lang="uk-UA" sz="1600" noProof="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sz="1600" noProof="0" dirty="0"/>
              <a:t>REST API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sz="1600" noProof="0" dirty="0"/>
              <a:t>зовнішні сервіси (</a:t>
            </a:r>
            <a:r>
              <a:rPr lang="uk-UA" sz="1600" noProof="1"/>
              <a:t>LiqPay</a:t>
            </a:r>
            <a:r>
              <a:rPr lang="uk-UA" sz="1600" noProof="0" dirty="0"/>
              <a:t>, валютні API)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574C8E-BD9E-5CD8-0D46-25CFB86A051F}"/>
              </a:ext>
            </a:extLst>
          </p:cNvPr>
          <p:cNvSpPr txBox="1"/>
          <p:nvPr/>
        </p:nvSpPr>
        <p:spPr>
          <a:xfrm>
            <a:off x="268925" y="711017"/>
            <a:ext cx="45720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uk-UA" sz="1600" noProof="0" dirty="0"/>
              <a:t>Методи: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sz="1600" noProof="0" dirty="0"/>
              <a:t>модульна архітектура побудови застосунку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sz="1600" noProof="1"/>
              <a:t>кешування</a:t>
            </a:r>
            <a:r>
              <a:rPr lang="uk-UA" sz="1600" noProof="0" dirty="0"/>
              <a:t> даних для підвищення продуктивності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sz="1600" noProof="0" dirty="0"/>
              <a:t>реактивне оновлення інтерфейсу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sz="1600" noProof="0" dirty="0"/>
              <a:t>обробка API та </a:t>
            </a:r>
            <a:r>
              <a:rPr lang="uk-UA" sz="1600" noProof="1"/>
              <a:t>webhook-подій</a:t>
            </a:r>
            <a:r>
              <a:rPr lang="uk-UA" sz="1600" noProof="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sz="1600" noProof="1"/>
              <a:t>валідація</a:t>
            </a:r>
            <a:r>
              <a:rPr lang="uk-UA" sz="1600" noProof="0" dirty="0"/>
              <a:t> та захист даних користувача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 noProof="0" dirty="0"/>
              <a:t>Приклад реалізації</a:t>
            </a:r>
          </a:p>
        </p:txBody>
      </p:sp>
      <p:pic>
        <p:nvPicPr>
          <p:cNvPr id="129" name="Google Shape;129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1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 sz="1400" b="0" i="0" u="none" strike="noStrike" cap="none" noProof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lang="uk-UA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CBC80134-E23E-305B-12FF-2BC4A17214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925" y="719755"/>
            <a:ext cx="4201705" cy="1244950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08FF587F-0AF8-D0FF-CEAD-4ACE968597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25" y="3175496"/>
            <a:ext cx="4201705" cy="1203997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DBC72FFF-A8D3-56F5-B9D1-37BEF18AE9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1926" y="1966415"/>
            <a:ext cx="4402074" cy="1209081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14644C0E-F30F-6E66-80B6-3D3EA5C31BAD}"/>
              </a:ext>
            </a:extLst>
          </p:cNvPr>
          <p:cNvSpPr txBox="1"/>
          <p:nvPr/>
        </p:nvSpPr>
        <p:spPr>
          <a:xfrm>
            <a:off x="87966" y="2006158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uk-UA" b="1" i="0" noProof="0" dirty="0">
                <a:solidFill>
                  <a:srgbClr val="000000"/>
                </a:solidFill>
                <a:effectLst/>
              </a:rPr>
              <a:t>Рисунок 1 – </a:t>
            </a:r>
            <a:r>
              <a:rPr lang="ru-RU" b="1" i="0" noProof="0" dirty="0">
                <a:solidFill>
                  <a:srgbClr val="000000"/>
                </a:solidFill>
                <a:effectLst/>
              </a:rPr>
              <a:t>Д</a:t>
            </a:r>
            <a:r>
              <a:rPr lang="uk-UA" b="1" i="0" noProof="0" dirty="0" err="1">
                <a:solidFill>
                  <a:srgbClr val="000000"/>
                </a:solidFill>
                <a:effectLst/>
              </a:rPr>
              <a:t>іаграма</a:t>
            </a:r>
            <a:r>
              <a:rPr lang="uk-UA" b="1" i="0" noProof="0" dirty="0">
                <a:solidFill>
                  <a:srgbClr val="000000"/>
                </a:solidFill>
                <a:effectLst/>
              </a:rPr>
              <a:t> розподілу доходів/витрат (рисунок виконано самостійно)</a:t>
            </a:r>
            <a:endParaRPr lang="uk-UA" noProof="0" dirty="0">
              <a:effectLst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CDCD47D-5C75-7454-5BF1-5F18CBBAE272}"/>
              </a:ext>
            </a:extLst>
          </p:cNvPr>
          <p:cNvSpPr txBox="1"/>
          <p:nvPr/>
        </p:nvSpPr>
        <p:spPr>
          <a:xfrm>
            <a:off x="4656963" y="3200909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uk-UA" b="1" i="0" noProof="0" dirty="0">
                <a:solidFill>
                  <a:srgbClr val="000000"/>
                </a:solidFill>
                <a:effectLst/>
              </a:rPr>
              <a:t>Рисунок 2 – Діаграма доходів/витрат за категоріями (рисунок виконано самостійно)</a:t>
            </a:r>
            <a:endParaRPr lang="uk-UA" noProof="0" dirty="0">
              <a:effectLst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CCB29C0-6B54-85AB-6011-E3ED1E829246}"/>
              </a:ext>
            </a:extLst>
          </p:cNvPr>
          <p:cNvSpPr txBox="1"/>
          <p:nvPr/>
        </p:nvSpPr>
        <p:spPr>
          <a:xfrm>
            <a:off x="62346" y="4350315"/>
            <a:ext cx="461486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uk-UA" b="1" i="0" noProof="0" dirty="0">
                <a:solidFill>
                  <a:srgbClr val="000000"/>
                </a:solidFill>
                <a:effectLst/>
              </a:rPr>
              <a:t>Рисунок </a:t>
            </a:r>
            <a:r>
              <a:rPr lang="uk-UA" b="1" dirty="0"/>
              <a:t>3</a:t>
            </a:r>
            <a:r>
              <a:rPr lang="uk-UA" b="1" i="0" noProof="0" dirty="0">
                <a:solidFill>
                  <a:srgbClr val="000000"/>
                </a:solidFill>
                <a:effectLst/>
              </a:rPr>
              <a:t> – </a:t>
            </a:r>
            <a:r>
              <a:rPr lang="uk-UA" b="1" dirty="0"/>
              <a:t>Графік доходів/витрат за обраний період </a:t>
            </a:r>
            <a:r>
              <a:rPr lang="uk-UA" b="1" i="0" noProof="0" dirty="0">
                <a:solidFill>
                  <a:srgbClr val="000000"/>
                </a:solidFill>
                <a:effectLst/>
              </a:rPr>
              <a:t>(рисунок виконано самостійно)</a:t>
            </a:r>
            <a:endParaRPr lang="uk-UA" noProof="0" dirty="0">
              <a:effectLst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2"/>
          <p:cNvSpPr txBox="1">
            <a:spLocks noGrp="1"/>
          </p:cNvSpPr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 noProof="0" dirty="0"/>
              <a:t>Інтерфейс користувача </a:t>
            </a:r>
          </a:p>
        </p:txBody>
      </p:sp>
      <p:pic>
        <p:nvPicPr>
          <p:cNvPr id="137" name="Google Shape;137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2"/>
          <p:cNvSpPr txBox="1"/>
          <p:nvPr/>
        </p:nvSpPr>
        <p:spPr>
          <a:xfrm>
            <a:off x="8636000" y="4606349"/>
            <a:ext cx="42629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 sz="1400" b="0" i="0" u="none" strike="noStrike" cap="none" noProof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lang="uk-UA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98F793-E950-51EC-A487-6818EF7B019C}"/>
              </a:ext>
            </a:extLst>
          </p:cNvPr>
          <p:cNvSpPr txBox="1"/>
          <p:nvPr/>
        </p:nvSpPr>
        <p:spPr>
          <a:xfrm>
            <a:off x="0" y="3440207"/>
            <a:ext cx="261415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uk-UA" b="1" i="0" noProof="0" dirty="0">
                <a:solidFill>
                  <a:srgbClr val="000000"/>
                </a:solidFill>
                <a:effectLst/>
              </a:rPr>
              <a:t>Рисунок 1 – Головна сторінка бюджету (рисунок виконано самостійно)</a:t>
            </a:r>
            <a:endParaRPr lang="uk-UA" noProof="0" dirty="0">
              <a:effectLst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7AA312-6FEE-AF88-2FA5-A1185D770E8A}"/>
              </a:ext>
            </a:extLst>
          </p:cNvPr>
          <p:cNvSpPr txBox="1"/>
          <p:nvPr/>
        </p:nvSpPr>
        <p:spPr>
          <a:xfrm>
            <a:off x="2839255" y="3912836"/>
            <a:ext cx="284256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uk-UA" b="1" i="0" noProof="0" dirty="0">
                <a:solidFill>
                  <a:srgbClr val="000000"/>
                </a:solidFill>
                <a:effectLst/>
              </a:rPr>
              <a:t>Рисунок 2 – Головна сторінка аналітики (рисунок виконано самостійно)</a:t>
            </a:r>
            <a:endParaRPr lang="uk-UA" noProof="0" dirty="0">
              <a:effectLst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96E0E1-3652-C8DA-AAAF-F99F47E07252}"/>
              </a:ext>
            </a:extLst>
          </p:cNvPr>
          <p:cNvSpPr txBox="1"/>
          <p:nvPr/>
        </p:nvSpPr>
        <p:spPr>
          <a:xfrm>
            <a:off x="6047445" y="2949786"/>
            <a:ext cx="284256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uk-UA" b="1" i="0" noProof="0" dirty="0">
                <a:solidFill>
                  <a:srgbClr val="000000"/>
                </a:solidFill>
                <a:effectLst/>
              </a:rPr>
              <a:t>Рисунок 3 – Головна сторінка підписок (рисунок виконано самостійно)</a:t>
            </a:r>
            <a:endParaRPr lang="uk-UA" noProof="0" dirty="0">
              <a:effectLst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11A49DB-153C-6C46-C11F-953F0FDC96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994" y="809935"/>
            <a:ext cx="2433874" cy="2636697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272982C-BAEB-9EE6-FCFE-E27FEF832F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7599" y="341900"/>
            <a:ext cx="2654643" cy="240670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C6ACE1C-C420-1104-7633-D5713029D6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3498" y="1293953"/>
            <a:ext cx="2628317" cy="239449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3"/>
          <p:cNvSpPr txBox="1">
            <a:spLocks noGrp="1"/>
          </p:cNvSpPr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 noProof="0" dirty="0"/>
              <a:t>Тестування</a:t>
            </a:r>
          </a:p>
        </p:txBody>
      </p:sp>
      <p:pic>
        <p:nvPicPr>
          <p:cNvPr id="145" name="Google Shape;145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3"/>
          <p:cNvSpPr txBox="1"/>
          <p:nvPr/>
        </p:nvSpPr>
        <p:spPr>
          <a:xfrm>
            <a:off x="8636000" y="4606349"/>
            <a:ext cx="42629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 sz="1400" b="0" i="0" u="none" strike="noStrike" cap="none" noProof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11</a:t>
            </a:fld>
            <a:endParaRPr lang="uk-UA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4" name="Таблиця 3">
            <a:extLst>
              <a:ext uri="{FF2B5EF4-FFF2-40B4-BE49-F238E27FC236}">
                <a16:creationId xmlns:a16="http://schemas.microsoft.com/office/drawing/2014/main" id="{13713945-965C-0971-E7B6-431537C777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8616816"/>
              </p:ext>
            </p:extLst>
          </p:nvPr>
        </p:nvGraphicFramePr>
        <p:xfrm>
          <a:off x="534273" y="696628"/>
          <a:ext cx="8255250" cy="35578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1750">
                  <a:extLst>
                    <a:ext uri="{9D8B030D-6E8A-4147-A177-3AD203B41FA5}">
                      <a16:colId xmlns:a16="http://schemas.microsoft.com/office/drawing/2014/main" val="611212907"/>
                    </a:ext>
                  </a:extLst>
                </a:gridCol>
                <a:gridCol w="2751750">
                  <a:extLst>
                    <a:ext uri="{9D8B030D-6E8A-4147-A177-3AD203B41FA5}">
                      <a16:colId xmlns:a16="http://schemas.microsoft.com/office/drawing/2014/main" val="699202707"/>
                    </a:ext>
                  </a:extLst>
                </a:gridCol>
                <a:gridCol w="2751750">
                  <a:extLst>
                    <a:ext uri="{9D8B030D-6E8A-4147-A177-3AD203B41FA5}">
                      <a16:colId xmlns:a16="http://schemas.microsoft.com/office/drawing/2014/main" val="2493256302"/>
                    </a:ext>
                  </a:extLst>
                </a:gridCol>
              </a:tblGrid>
              <a:tr h="592979">
                <a:tc>
                  <a:txBody>
                    <a:bodyPr/>
                    <a:lstStyle/>
                    <a:p>
                      <a:pPr algn="ctr"/>
                      <a:r>
                        <a:rPr lang="uk-UA" noProof="1"/>
                        <a:t>Тип тестування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noProof="1"/>
                        <a:t>Що перевірялось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noProof="1"/>
                        <a:t>Результат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9337816"/>
                  </a:ext>
                </a:extLst>
              </a:tr>
              <a:tr h="592979">
                <a:tc>
                  <a:txBody>
                    <a:bodyPr/>
                    <a:lstStyle/>
                    <a:p>
                      <a:pPr algn="ctr"/>
                      <a:r>
                        <a:rPr lang="uk-UA" noProof="1"/>
                        <a:t>Unit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noProof="1"/>
                        <a:t>Функції та утиліти (валюти, LiqPay, обчислення)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noProof="1"/>
                        <a:t>Успішно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9495442"/>
                  </a:ext>
                </a:extLst>
              </a:tr>
              <a:tr h="592979">
                <a:tc>
                  <a:txBody>
                    <a:bodyPr/>
                    <a:lstStyle/>
                    <a:p>
                      <a:pPr algn="ctr"/>
                      <a:r>
                        <a:rPr lang="uk-UA" noProof="1"/>
                        <a:t>Integration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noProof="1"/>
                        <a:t>API-роути та взаємодія з MongoDB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noProof="1"/>
                        <a:t>Успішно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7076965"/>
                  </a:ext>
                </a:extLst>
              </a:tr>
              <a:tr h="592979">
                <a:tc>
                  <a:txBody>
                    <a:bodyPr/>
                    <a:lstStyle/>
                    <a:p>
                      <a:pPr algn="ctr"/>
                      <a:r>
                        <a:rPr lang="uk-UA" noProof="1"/>
                        <a:t>E2E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noProof="1"/>
                        <a:t>Користувацькі сценарії (логін, бюджет, підписки)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noProof="1"/>
                        <a:t>Успішно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663355"/>
                  </a:ext>
                </a:extLst>
              </a:tr>
              <a:tr h="592979">
                <a:tc>
                  <a:txBody>
                    <a:bodyPr/>
                    <a:lstStyle/>
                    <a:p>
                      <a:pPr algn="ctr"/>
                      <a:r>
                        <a:rPr lang="uk-UA" noProof="1"/>
                        <a:t>API / Webhook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noProof="1"/>
                        <a:t>Обробка платежів та зовнішніх подій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noProof="1"/>
                        <a:t>Успішно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80946771"/>
                  </a:ext>
                </a:extLst>
              </a:tr>
              <a:tr h="592979">
                <a:tc>
                  <a:txBody>
                    <a:bodyPr/>
                    <a:lstStyle/>
                    <a:p>
                      <a:pPr algn="ctr"/>
                      <a:r>
                        <a:rPr lang="uk-UA" noProof="1"/>
                        <a:t>Static analysis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noProof="1"/>
                        <a:t>TypeScript, ESLint, Prettier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noProof="1"/>
                        <a:t>Без критичних помилок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2323402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5"/>
          <p:cNvSpPr txBox="1">
            <a:spLocks noGrp="1"/>
          </p:cNvSpPr>
          <p:nvPr>
            <p:ph type="title"/>
          </p:nvPr>
        </p:nvSpPr>
        <p:spPr>
          <a:xfrm>
            <a:off x="311700" y="-35287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 noProof="0" dirty="0"/>
              <a:t>Підсумки </a:t>
            </a:r>
          </a:p>
        </p:txBody>
      </p:sp>
      <p:sp>
        <p:nvSpPr>
          <p:cNvPr id="160" name="Google Shape;160;p25"/>
          <p:cNvSpPr txBox="1">
            <a:spLocks noGrp="1"/>
          </p:cNvSpPr>
          <p:nvPr>
            <p:ph type="body" idx="1"/>
          </p:nvPr>
        </p:nvSpPr>
        <p:spPr>
          <a:xfrm>
            <a:off x="311700" y="796013"/>
            <a:ext cx="8520600" cy="37832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>
              <a:lnSpc>
                <a:spcPct val="150000"/>
              </a:lnSpc>
              <a:buNone/>
            </a:pPr>
            <a:r>
              <a:rPr lang="uk-UA" noProof="0" dirty="0"/>
              <a:t>	Розроблено </a:t>
            </a:r>
            <a:r>
              <a:rPr lang="uk-UA" noProof="1"/>
              <a:t>вебзастосунок Moneta </a:t>
            </a:r>
            <a:r>
              <a:rPr lang="uk-UA" noProof="0" dirty="0"/>
              <a:t>для управління особистими фінансами. Реалізовано основні функції: облік доходів і витрат, контроль підписок, аналітика та нагадування. Спроєктовано модульну архітектуру з розділенням клієнтської, серверної та рівня даних. Забезпечено безпечну роботу з даними та авторизацію користувачів. Реалізовано візуалізацію фінансових показників у зручному інтерфейсі. Проведено тестування основних модулів і ключових сценаріїв роботи системи. Досягнуто мети роботи - створено функціональну та розширювану систему фінансового менеджменту.</a:t>
            </a:r>
            <a:endParaRPr lang="uk-UA" noProof="0" dirty="0">
              <a:latin typeface="Economica"/>
              <a:ea typeface="Economica"/>
              <a:cs typeface="Economica"/>
              <a:sym typeface="Economica"/>
            </a:endParaRPr>
          </a:p>
        </p:txBody>
      </p:sp>
      <p:pic>
        <p:nvPicPr>
          <p:cNvPr id="161" name="Google Shape;161;p2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25"/>
          <p:cNvSpPr txBox="1"/>
          <p:nvPr/>
        </p:nvSpPr>
        <p:spPr>
          <a:xfrm>
            <a:off x="8648700" y="4606349"/>
            <a:ext cx="41359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 sz="1400" b="0" i="0" u="none" strike="noStrike" cap="none" noProof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12</a:t>
            </a:fld>
            <a:endParaRPr lang="uk-UA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Шаблон презентації кваліфікаційної роботи магістрів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780</Words>
  <Application>Microsoft Office PowerPoint</Application>
  <PresentationFormat>Екран (16:9)</PresentationFormat>
  <Paragraphs>130</Paragraphs>
  <Slides>12</Slides>
  <Notes>12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12</vt:i4>
      </vt:variant>
    </vt:vector>
  </HeadingPairs>
  <TitlesOfParts>
    <vt:vector size="16" baseType="lpstr">
      <vt:lpstr>Arial</vt:lpstr>
      <vt:lpstr>Economica</vt:lpstr>
      <vt:lpstr>Open Sans</vt:lpstr>
      <vt:lpstr>Шаблон презентації кваліфікаційної роботи магістрів</vt:lpstr>
      <vt:lpstr>Тема роботи </vt:lpstr>
      <vt:lpstr>Мета роботи</vt:lpstr>
      <vt:lpstr>Аналіз проблеми (аналіз існуючих рішень) </vt:lpstr>
      <vt:lpstr>Постановка задачі та опис системи</vt:lpstr>
      <vt:lpstr>Вибір технологій розробки </vt:lpstr>
      <vt:lpstr>Архітектура створеного програмного забезпечення</vt:lpstr>
      <vt:lpstr>Опис програмного забезпечення, що було використано у дослідженні</vt:lpstr>
      <vt:lpstr>Дизайн системи</vt:lpstr>
      <vt:lpstr>Приклад реалізації</vt:lpstr>
      <vt:lpstr>Інтерфейс користувача </vt:lpstr>
      <vt:lpstr>Тестування</vt:lpstr>
      <vt:lpstr>Підсумки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Денис Кушнирук</cp:lastModifiedBy>
  <cp:revision>10</cp:revision>
  <dcterms:modified xsi:type="dcterms:W3CDTF">2026-06-19T11:04:14Z</dcterms:modified>
</cp:coreProperties>
</file>