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6858000" cy="9144000"/>
  <p:embeddedFontLst>
    <p:embeddedFont>
      <p:font typeface="Economica" panose="020B0604020202020204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12B1356-A6EC-BA24-8C19-A15E894C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>
            <a:extLst>
              <a:ext uri="{FF2B5EF4-FFF2-40B4-BE49-F238E27FC236}">
                <a16:creationId xmlns:a16="http://schemas.microsoft.com/office/drawing/2014/main" id="{31FDFDF7-D2B1-5673-FB0C-8B313E94F8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>
            <a:extLst>
              <a:ext uri="{FF2B5EF4-FFF2-40B4-BE49-F238E27FC236}">
                <a16:creationId xmlns:a16="http://schemas.microsoft.com/office/drawing/2014/main" id="{E503302E-26E8-C4D8-FB05-B441C3146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1769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2" name="Google Shape;22;p4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2811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2400" noProof="0" dirty="0"/>
              <a:t>Тема роботи 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028300" y="3610800"/>
            <a:ext cx="5087400" cy="15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lang="uk-UA" noProof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uk-UA" noProof="0" dirty="0"/>
              <a:t>Виконав: </a:t>
            </a:r>
            <a:r>
              <a:rPr lang="uk-UA" noProof="1"/>
              <a:t>Кушнірук</a:t>
            </a:r>
            <a:r>
              <a:rPr lang="uk-UA" noProof="0" dirty="0"/>
              <a:t> Д. О., ПЗПІ-22-8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uk-UA" noProof="0" dirty="0"/>
              <a:t>Керівник: ст. </a:t>
            </a:r>
            <a:r>
              <a:rPr lang="uk-UA" noProof="1"/>
              <a:t>викл</a:t>
            </a:r>
            <a:r>
              <a:rPr lang="uk-UA" noProof="0" dirty="0"/>
              <a:t>., кафедри ПІ Онищенко К. Г.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lang="uk-UA" noProof="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lang="uk-UA" noProof="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US"/>
              <a:t>03</a:t>
            </a:r>
            <a:r>
              <a:rPr lang="uk-UA" noProof="0"/>
              <a:t> </a:t>
            </a:r>
            <a:r>
              <a:rPr lang="uk-UA" noProof="0" dirty="0"/>
              <a:t>червня 2026</a:t>
            </a: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98D657-0962-7F68-776B-0C66B6947834}"/>
              </a:ext>
            </a:extLst>
          </p:cNvPr>
          <p:cNvSpPr txBox="1"/>
          <p:nvPr/>
        </p:nvSpPr>
        <p:spPr>
          <a:xfrm>
            <a:off x="1819140" y="2198440"/>
            <a:ext cx="6211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000" noProof="1">
                <a:solidFill>
                  <a:schemeClr val="dk1"/>
                </a:solidFill>
                <a:sym typeface="Economica"/>
              </a:rPr>
              <a:t>Веборієнтована</a:t>
            </a:r>
            <a:r>
              <a:rPr lang="uk-UA" sz="2000" b="1" i="0" noProof="0" dirty="0">
                <a:effectLst/>
              </a:rPr>
              <a:t> </a:t>
            </a:r>
            <a:r>
              <a:rPr lang="uk-UA" sz="2000" noProof="0" dirty="0">
                <a:solidFill>
                  <a:schemeClr val="dk1"/>
                </a:solidFill>
              </a:rPr>
              <a:t>програмна система для управління підписками та планування особистого бюджету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Мета роботи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831300"/>
            <a:ext cx="8520600" cy="38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uk-UA" noProof="0" dirty="0"/>
              <a:t>	Метою роботи є створення програмної системи, що забезпечує централізоване зберігання даних про доходи, витрати та підписки, а також наочне відображення фінансового стану користувача. 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uk-UA" noProof="0" dirty="0"/>
              <a:t>Ключові напрями розробки:</a:t>
            </a:r>
            <a:endParaRPr lang="uk-UA" noProof="0" dirty="0">
              <a:latin typeface="Economica"/>
              <a:ea typeface="Economica"/>
              <a:cs typeface="Economica"/>
              <a:sym typeface="Economica"/>
            </a:endParaRPr>
          </a:p>
          <a:p>
            <a:r>
              <a:rPr lang="uk-UA" noProof="0" dirty="0"/>
              <a:t>Зручність та інтуїтивність користувацького інтерфейсу;</a:t>
            </a:r>
          </a:p>
          <a:p>
            <a:r>
              <a:rPr lang="uk-UA" noProof="0" dirty="0"/>
              <a:t>Функціональність для ведення обліку доходів, витрат і підписок;</a:t>
            </a:r>
          </a:p>
          <a:p>
            <a:r>
              <a:rPr lang="uk-UA" noProof="0" dirty="0"/>
              <a:t>Наочність представлення фінансових показників за допомогою графіків і діаграм;</a:t>
            </a:r>
          </a:p>
          <a:p>
            <a:r>
              <a:rPr lang="uk-UA" noProof="0" dirty="0"/>
              <a:t>Доступність веб-застосунку на різних пристроях;</a:t>
            </a:r>
          </a:p>
          <a:p>
            <a:r>
              <a:rPr lang="uk-UA" noProof="0" dirty="0"/>
              <a:t>Корисність для планування та контролю особистого бюджету.</a:t>
            </a: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SzPts val="1800"/>
              <a:buNone/>
            </a:pPr>
            <a:endParaRPr lang="uk-UA" noProof="0" dirty="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Аналіз проблеми (аналіз існуючих рішень) </a:t>
            </a:r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706436"/>
            <a:ext cx="8520600" cy="3963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114300" indent="0">
              <a:buNone/>
            </a:pPr>
            <a:r>
              <a:rPr lang="uk-UA" sz="2600" cap="all" noProof="0" dirty="0">
                <a:highlight>
                  <a:srgbClr val="FFFFFF"/>
                </a:highlight>
              </a:rPr>
              <a:t>Актуальність</a:t>
            </a:r>
          </a:p>
          <a:p>
            <a:r>
              <a:rPr lang="uk-UA" sz="2600" noProof="0" dirty="0">
                <a:highlight>
                  <a:srgbClr val="FFFFFF"/>
                </a:highlight>
              </a:rPr>
              <a:t>зростання кількості електронних платежів та онлайн-підписок;</a:t>
            </a:r>
          </a:p>
          <a:p>
            <a:r>
              <a:rPr lang="uk-UA" sz="2600" noProof="0" dirty="0">
                <a:highlight>
                  <a:srgbClr val="FFFFFF"/>
                </a:highlight>
              </a:rPr>
              <a:t>необхідність централізованого контролю особистих фінансів;</a:t>
            </a:r>
          </a:p>
          <a:p>
            <a:r>
              <a:rPr lang="uk-UA" sz="2600" noProof="0" dirty="0">
                <a:highlight>
                  <a:srgbClr val="FFFFFF"/>
                </a:highlight>
              </a:rPr>
              <a:t>потреба в наочній фінансовій аналітиці та нагадуваннях про платежі.</a:t>
            </a:r>
          </a:p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sz="2600" noProof="0" dirty="0">
                <a:highlight>
                  <a:srgbClr val="FFFFFF"/>
                </a:highlight>
              </a:rPr>
              <a:t>   Переваги </a:t>
            </a:r>
            <a:r>
              <a:rPr lang="en-US" sz="2600" noProof="0" dirty="0">
                <a:highlight>
                  <a:srgbClr val="FFFFFF"/>
                </a:highlight>
              </a:rPr>
              <a:t>Moneta</a:t>
            </a:r>
            <a:endParaRPr lang="uk-UA" sz="2600" noProof="0" dirty="0">
              <a:highlight>
                <a:srgbClr val="FFFFFF"/>
              </a:highlight>
            </a:endParaRPr>
          </a:p>
          <a:p>
            <a:r>
              <a:rPr lang="uk-UA" sz="2600" noProof="0" dirty="0">
                <a:highlight>
                  <a:srgbClr val="FFFFFF"/>
                </a:highlight>
              </a:rPr>
              <a:t>облік доходів і витрат;</a:t>
            </a:r>
          </a:p>
          <a:p>
            <a:r>
              <a:rPr lang="uk-UA" sz="2600" noProof="0" dirty="0">
                <a:highlight>
                  <a:srgbClr val="FFFFFF"/>
                </a:highlight>
              </a:rPr>
              <a:t>контроль підписок;</a:t>
            </a:r>
          </a:p>
          <a:p>
            <a:r>
              <a:rPr lang="uk-UA" sz="2600" noProof="0" dirty="0">
                <a:highlight>
                  <a:srgbClr val="FFFFFF"/>
                </a:highlight>
              </a:rPr>
              <a:t>візуалізація фінансових показників;</a:t>
            </a:r>
          </a:p>
          <a:p>
            <a:r>
              <a:rPr lang="uk-UA" sz="2600" noProof="0" dirty="0">
                <a:highlight>
                  <a:srgbClr val="FFFFFF"/>
                </a:highlight>
              </a:rPr>
              <a:t>підтримка локалізації;</a:t>
            </a:r>
          </a:p>
          <a:p>
            <a:r>
              <a:rPr lang="uk-UA" sz="2600" noProof="0" dirty="0">
                <a:highlight>
                  <a:srgbClr val="FFFFFF"/>
                </a:highlight>
              </a:rPr>
              <a:t>єдина система управління особистими фінансами.</a:t>
            </a:r>
          </a:p>
          <a:p>
            <a:pPr marL="114300" indent="0">
              <a:buNone/>
            </a:pPr>
            <a:endParaRPr lang="uk-UA" sz="2600" b="1" noProof="0" dirty="0"/>
          </a:p>
          <a:p>
            <a:pPr marL="114300" indent="0">
              <a:buNone/>
            </a:pPr>
            <a:r>
              <a:rPr lang="uk-UA" sz="2600" noProof="0" dirty="0"/>
              <a:t>Недоліки існуючих рішень</a:t>
            </a:r>
          </a:p>
          <a:p>
            <a:r>
              <a:rPr lang="uk-UA" sz="2600" noProof="0" dirty="0"/>
              <a:t>частина функціоналу доступна лише за платною підпискою;</a:t>
            </a:r>
          </a:p>
          <a:p>
            <a:r>
              <a:rPr lang="uk-UA" sz="2600" noProof="0" dirty="0"/>
              <a:t>обмежені можливості управління підписками або фінансової аналітики;</a:t>
            </a:r>
          </a:p>
          <a:p>
            <a:r>
              <a:rPr lang="uk-UA" sz="2600" noProof="0" dirty="0"/>
              <a:t>недостатня локалізація для українських користувачів;</a:t>
            </a:r>
          </a:p>
          <a:p>
            <a:r>
              <a:rPr lang="uk-UA" sz="2600" noProof="0" dirty="0"/>
              <a:t>залежність від сторонніх сервісів інтеграції банківських даних.</a:t>
            </a:r>
          </a:p>
          <a:p>
            <a:pPr marL="114300" indent="0">
              <a:buNone/>
            </a:pPr>
            <a:endParaRPr lang="uk-UA" noProof="0" dirty="0"/>
          </a:p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endParaRPr lang="uk-UA" noProof="0" dirty="0"/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Постановка задачі та опис системи</a:t>
            </a:r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311700" y="645024"/>
            <a:ext cx="8520600" cy="426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noProof="0" dirty="0">
                <a:highlight>
                  <a:srgbClr val="FFFFFF"/>
                </a:highlight>
              </a:rPr>
              <a:t>	Розробка </a:t>
            </a:r>
            <a:r>
              <a:rPr lang="uk-UA" noProof="1">
                <a:highlight>
                  <a:srgbClr val="FFFFFF"/>
                </a:highlight>
              </a:rPr>
              <a:t>вебзастосунку</a:t>
            </a:r>
            <a:r>
              <a:rPr lang="uk-UA" noProof="0" dirty="0">
                <a:highlight>
                  <a:srgbClr val="FFFFFF"/>
                </a:highlight>
              </a:rPr>
              <a:t> </a:t>
            </a:r>
            <a:r>
              <a:rPr lang="en-US" noProof="0" dirty="0">
                <a:highlight>
                  <a:srgbClr val="FFFFFF"/>
                </a:highlight>
              </a:rPr>
              <a:t>Moneta</a:t>
            </a:r>
            <a:r>
              <a:rPr lang="uk-UA" noProof="0" dirty="0">
                <a:highlight>
                  <a:srgbClr val="FFFFFF"/>
                </a:highlight>
              </a:rPr>
              <a:t> для управління особистими фінансами, що об'єднує облік доходів і витрат, контроль підписок, фінансову аналітику та систему нагадувань.</a:t>
            </a:r>
            <a:endParaRPr lang="uk-UA" noProof="0" dirty="0"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uk-UA" noProof="0" dirty="0"/>
              <a:t>Основні завдання:</a:t>
            </a:r>
          </a:p>
          <a:p>
            <a:r>
              <a:rPr lang="uk-UA" noProof="0" dirty="0"/>
              <a:t>розробити архітектуру </a:t>
            </a:r>
            <a:r>
              <a:rPr lang="uk-UA" noProof="1"/>
              <a:t>вебзастосунку</a:t>
            </a:r>
            <a:r>
              <a:rPr lang="uk-UA" noProof="0" dirty="0"/>
              <a:t> на базі Next.js та </a:t>
            </a:r>
            <a:r>
              <a:rPr lang="uk-UA" noProof="1"/>
              <a:t>TypeScript</a:t>
            </a:r>
            <a:r>
              <a:rPr lang="uk-UA" noProof="0" dirty="0"/>
              <a:t>;</a:t>
            </a:r>
          </a:p>
          <a:p>
            <a:r>
              <a:rPr lang="uk-UA" noProof="0" dirty="0"/>
              <a:t>реалізувати облік доходів, витрат і бюджетів;</a:t>
            </a:r>
          </a:p>
          <a:p>
            <a:r>
              <a:rPr lang="uk-UA" noProof="0" dirty="0"/>
              <a:t>створити систему відстеження підписок та нагадувань про платежі;</a:t>
            </a:r>
          </a:p>
          <a:p>
            <a:r>
              <a:rPr lang="uk-UA" noProof="0" dirty="0"/>
              <a:t>розробити аналітичні панелі з графіками та статистикою;</a:t>
            </a:r>
          </a:p>
          <a:p>
            <a:r>
              <a:rPr lang="uk-UA" noProof="0" dirty="0"/>
              <a:t>забезпечити локалізацію інтерфейсу;</a:t>
            </a:r>
          </a:p>
          <a:p>
            <a:r>
              <a:rPr lang="uk-UA" noProof="0" dirty="0"/>
              <a:t>реалізувати безпечне зберігання даних користувачів;</a:t>
            </a:r>
          </a:p>
          <a:p>
            <a:r>
              <a:rPr lang="uk-UA" noProof="0" dirty="0"/>
              <a:t>створити зручний та інтуїтивний користувацький інтерфейс.</a:t>
            </a:r>
          </a:p>
          <a:p>
            <a:pPr marL="0" lvl="0" indent="0">
              <a:spcBef>
                <a:spcPts val="1500"/>
              </a:spcBef>
              <a:buNone/>
            </a:pPr>
            <a:endParaRPr lang="uk-UA" noProof="0" dirty="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Вибір технологій розробки </a:t>
            </a:r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311700" y="682991"/>
            <a:ext cx="8520600" cy="389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sz="1500" noProof="1">
                <a:highlight>
                  <a:srgbClr val="FFFFFF"/>
                </a:highlight>
              </a:rPr>
              <a:t>Frontend</a:t>
            </a:r>
            <a:endParaRPr lang="uk-UA" sz="1500" noProof="0" dirty="0">
              <a:highlight>
                <a:srgbClr val="FFFFFF"/>
              </a:highlight>
            </a:endParaRPr>
          </a:p>
          <a:p>
            <a:r>
              <a:rPr lang="uk-UA" sz="1500" noProof="0" dirty="0"/>
              <a:t>Next.js, </a:t>
            </a:r>
            <a:r>
              <a:rPr lang="uk-UA" sz="1500" noProof="1"/>
              <a:t>React</a:t>
            </a:r>
            <a:r>
              <a:rPr lang="uk-UA" sz="1500" noProof="0" dirty="0"/>
              <a:t>, </a:t>
            </a:r>
            <a:r>
              <a:rPr lang="uk-UA" sz="1500" noProof="1"/>
              <a:t>TypeScript</a:t>
            </a:r>
            <a:endParaRPr lang="uk-UA" sz="1500" noProof="0" dirty="0"/>
          </a:p>
          <a:p>
            <a:r>
              <a:rPr lang="uk-UA" sz="1500" noProof="0" dirty="0"/>
              <a:t>UI / UX: сучасні </a:t>
            </a:r>
            <a:r>
              <a:rPr lang="uk-UA" sz="1500" noProof="1"/>
              <a:t>React-компоненти</a:t>
            </a:r>
            <a:r>
              <a:rPr lang="uk-UA" sz="1500" noProof="0" dirty="0"/>
              <a:t>, адаптивний дизайн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sz="1500" noProof="1"/>
              <a:t>Backend</a:t>
            </a:r>
            <a:r>
              <a:rPr lang="uk-UA" sz="1500" b="1" noProof="0" dirty="0"/>
              <a:t> </a:t>
            </a:r>
          </a:p>
          <a:p>
            <a:r>
              <a:rPr lang="uk-UA" sz="1500" noProof="1"/>
              <a:t>Backend</a:t>
            </a:r>
            <a:r>
              <a:rPr lang="uk-UA" sz="1500" noProof="0" dirty="0"/>
              <a:t> API: Next.js API </a:t>
            </a:r>
            <a:r>
              <a:rPr lang="uk-UA" sz="1500" noProof="1"/>
              <a:t>Routes</a:t>
            </a:r>
            <a:endParaRPr lang="uk-UA" sz="1500" noProof="0" dirty="0"/>
          </a:p>
          <a:p>
            <a:r>
              <a:rPr lang="uk-UA" sz="1500" noProof="0" dirty="0"/>
              <a:t>База даних: </a:t>
            </a:r>
            <a:r>
              <a:rPr lang="uk-UA" sz="1500" noProof="1"/>
              <a:t>MongoDB</a:t>
            </a:r>
            <a:r>
              <a:rPr lang="uk-UA" sz="1500" noProof="0" dirty="0"/>
              <a:t>, </a:t>
            </a:r>
            <a:r>
              <a:rPr lang="uk-UA" sz="1500" noProof="1"/>
              <a:t>Mongoose</a:t>
            </a:r>
            <a:endParaRPr lang="uk-UA" sz="1500" noProof="0" dirty="0"/>
          </a:p>
          <a:p>
            <a:r>
              <a:rPr lang="uk-UA" sz="1500" noProof="0" dirty="0"/>
              <a:t>Автентифікація: </a:t>
            </a:r>
            <a:r>
              <a:rPr lang="uk-UA" sz="1500" noProof="1"/>
              <a:t>NextAuth</a:t>
            </a:r>
            <a:endParaRPr lang="uk-UA" sz="1500" noProof="0" dirty="0"/>
          </a:p>
          <a:p>
            <a:r>
              <a:rPr lang="uk-UA" sz="1500" noProof="0" dirty="0"/>
              <a:t>Інтернаціоналізація: </a:t>
            </a:r>
            <a:r>
              <a:rPr lang="uk-UA" sz="1500" noProof="1"/>
              <a:t>next-intl</a:t>
            </a:r>
            <a:endParaRPr lang="uk-UA" sz="1500" noProof="0" dirty="0"/>
          </a:p>
          <a:p>
            <a:pPr marL="0" lvl="0" indent="0">
              <a:spcBef>
                <a:spcPts val="1500"/>
              </a:spcBef>
              <a:buNone/>
            </a:pPr>
            <a:r>
              <a:rPr lang="uk-UA" sz="1500" noProof="0" dirty="0"/>
              <a:t>Інструменти розробки</a:t>
            </a:r>
          </a:p>
          <a:p>
            <a:r>
              <a:rPr lang="uk-UA" sz="1500" noProof="0" dirty="0"/>
              <a:t>Інструменти розробки: </a:t>
            </a:r>
            <a:r>
              <a:rPr lang="uk-UA" sz="1500" noProof="1"/>
              <a:t>Visual Studio Code</a:t>
            </a:r>
            <a:endParaRPr lang="uk-UA" sz="1500" noProof="0" dirty="0"/>
          </a:p>
          <a:p>
            <a:r>
              <a:rPr lang="uk-UA" sz="1500" noProof="0" dirty="0"/>
              <a:t>Інтеграції: платіжні сервіси (</a:t>
            </a:r>
            <a:r>
              <a:rPr lang="uk-UA" sz="1500" noProof="1"/>
              <a:t>LiqPay</a:t>
            </a:r>
            <a:r>
              <a:rPr lang="uk-UA" sz="1500" noProof="0" dirty="0"/>
              <a:t>), API курсів валют</a:t>
            </a:r>
          </a:p>
          <a:p>
            <a:pPr marL="0" lvl="0" indent="0">
              <a:spcBef>
                <a:spcPts val="1500"/>
              </a:spcBef>
              <a:buNone/>
            </a:pPr>
            <a:endParaRPr lang="uk-UA" noProof="0" dirty="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Архітектура створеного програмного забезпечення (Ч.</a:t>
            </a:r>
            <a:r>
              <a:rPr lang="uk-UA" sz="3200" dirty="0"/>
              <a:t>1</a:t>
            </a:r>
            <a:r>
              <a:rPr lang="uk-UA" sz="3200" noProof="0" dirty="0"/>
              <a:t>)</a:t>
            </a: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D4B19C-0D8A-E42B-5BD8-8A67D4B56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53" y="1022370"/>
            <a:ext cx="3809695" cy="30731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A0BC0F-2C7C-ED89-9639-5240EF39C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436" y="863281"/>
            <a:ext cx="4951563" cy="30731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B05024-091B-5008-423D-605FBD846C5F}"/>
              </a:ext>
            </a:extLst>
          </p:cNvPr>
          <p:cNvSpPr txBox="1"/>
          <p:nvPr/>
        </p:nvSpPr>
        <p:spPr>
          <a:xfrm>
            <a:off x="1095471" y="4175462"/>
            <a:ext cx="34337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cap="all" noProof="0" dirty="0"/>
              <a:t>Рисунок 1 - </a:t>
            </a:r>
            <a:r>
              <a:rPr lang="en-US" cap="all" noProof="0" dirty="0"/>
              <a:t>Use-Case</a:t>
            </a:r>
            <a:r>
              <a:rPr lang="uk-UA" cap="all" noProof="0" dirty="0"/>
              <a:t> діаграма застосунку </a:t>
            </a:r>
            <a:r>
              <a:rPr lang="en-US" cap="all" noProof="0" dirty="0"/>
              <a:t>Moneta</a:t>
            </a:r>
            <a:r>
              <a:rPr lang="uk-UA" cap="all" noProof="0" dirty="0"/>
              <a:t> (рисунок виконано самостійно)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3A839-2F70-ECF2-00D2-203A15FAF059}"/>
              </a:ext>
            </a:extLst>
          </p:cNvPr>
          <p:cNvSpPr txBox="1"/>
          <p:nvPr/>
        </p:nvSpPr>
        <p:spPr>
          <a:xfrm>
            <a:off x="4443842" y="4418030"/>
            <a:ext cx="4345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cap="all" noProof="0" dirty="0"/>
              <a:t>Рисунок 2 – Структура бази даних </a:t>
            </a:r>
            <a:r>
              <a:rPr lang="en-US" cap="all" noProof="0" dirty="0"/>
              <a:t>Moneta</a:t>
            </a:r>
            <a:r>
              <a:rPr lang="uk-UA" cap="all" noProof="0" dirty="0"/>
              <a:t>  (рисунок виконано самостійно)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0CAE8CC5-00E9-FD6C-8AC0-DD9D8F36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>
            <a:extLst>
              <a:ext uri="{FF2B5EF4-FFF2-40B4-BE49-F238E27FC236}">
                <a16:creationId xmlns:a16="http://schemas.microsoft.com/office/drawing/2014/main" id="{69772637-E22E-FA3E-EAA1-9BFACF70B9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Архітектура створеного програмного забезпечення (Ч.2)</a:t>
            </a:r>
          </a:p>
        </p:txBody>
      </p:sp>
      <p:pic>
        <p:nvPicPr>
          <p:cNvPr id="105" name="Google Shape;105;p18">
            <a:extLst>
              <a:ext uri="{FF2B5EF4-FFF2-40B4-BE49-F238E27FC236}">
                <a16:creationId xmlns:a16="http://schemas.microsoft.com/office/drawing/2014/main" id="{A3378A82-1214-52E3-8EF8-A920C0D5AD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>
            <a:extLst>
              <a:ext uri="{FF2B5EF4-FFF2-40B4-BE49-F238E27FC236}">
                <a16:creationId xmlns:a16="http://schemas.microsoft.com/office/drawing/2014/main" id="{BDAEC0CC-6BDE-E059-5BA1-6C0D7BFDED83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4C5027-26DF-A101-7EA0-179E64BBC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697" y="592604"/>
            <a:ext cx="5362303" cy="39582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C1D453-81CC-0922-3AE8-42CCCA65BDE9}"/>
              </a:ext>
            </a:extLst>
          </p:cNvPr>
          <p:cNvSpPr txBox="1"/>
          <p:nvPr/>
        </p:nvSpPr>
        <p:spPr>
          <a:xfrm>
            <a:off x="268925" y="3620836"/>
            <a:ext cx="39150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cap="all" noProof="0" dirty="0"/>
              <a:t>Рисунок 1 - </a:t>
            </a:r>
            <a:r>
              <a:rPr lang="en-US" cap="all" noProof="0" dirty="0"/>
              <a:t>Sequence</a:t>
            </a:r>
            <a:r>
              <a:rPr lang="uk-UA" cap="all" noProof="0" dirty="0"/>
              <a:t> </a:t>
            </a:r>
            <a:r>
              <a:rPr lang="en-US" cap="all" noProof="0" dirty="0"/>
              <a:t>Diagram</a:t>
            </a:r>
            <a:r>
              <a:rPr lang="uk-UA" cap="all" noProof="0" dirty="0"/>
              <a:t> застосунку </a:t>
            </a:r>
            <a:r>
              <a:rPr lang="en-US" cap="all" noProof="0" dirty="0"/>
              <a:t>Moneta</a:t>
            </a:r>
            <a:r>
              <a:rPr lang="uk-UA" cap="all" noProof="0" dirty="0"/>
              <a:t> (рисунок виконано самостійно)</a:t>
            </a:r>
          </a:p>
        </p:txBody>
      </p:sp>
    </p:spTree>
    <p:extLst>
      <p:ext uri="{BB962C8B-B14F-4D97-AF65-F5344CB8AC3E}">
        <p14:creationId xmlns:p14="http://schemas.microsoft.com/office/powerpoint/2010/main" val="131112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Опис програмного забезпечення, що було використано у дослідженні</a:t>
            </a:r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311700" y="1143700"/>
            <a:ext cx="8520600" cy="36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	</a:t>
            </a:r>
            <a:r>
              <a:rPr lang="en-US" noProof="0" dirty="0">
                <a:highlight>
                  <a:srgbClr val="FFFFFF"/>
                </a:highlight>
              </a:rPr>
              <a:t>Moneta</a:t>
            </a:r>
            <a:r>
              <a:rPr lang="uk-UA" noProof="0" dirty="0">
                <a:highlight>
                  <a:srgbClr val="FFFFFF"/>
                </a:highlight>
              </a:rPr>
              <a:t> побудована за модульною багаторівневою архітектурою.</a:t>
            </a:r>
          </a:p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Використовується Next.js (</a:t>
            </a:r>
            <a:r>
              <a:rPr lang="en-US" noProof="0" dirty="0">
                <a:highlight>
                  <a:srgbClr val="FFFFFF"/>
                </a:highlight>
              </a:rPr>
              <a:t>full-stack</a:t>
            </a:r>
            <a:r>
              <a:rPr lang="uk-UA" noProof="0" dirty="0">
                <a:highlight>
                  <a:srgbClr val="FFFFFF"/>
                </a:highlight>
              </a:rPr>
              <a:t>) як основа клієнтської та серверної частини.</a:t>
            </a:r>
          </a:p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Рівні системи:</a:t>
            </a:r>
          </a:p>
          <a:p>
            <a:r>
              <a:rPr lang="uk-UA" noProof="0" dirty="0">
                <a:highlight>
                  <a:srgbClr val="FFFFFF"/>
                </a:highlight>
              </a:rPr>
              <a:t>UI-рівень (</a:t>
            </a:r>
            <a:r>
              <a:rPr lang="en-US" noProof="1">
                <a:highlight>
                  <a:srgbClr val="FFFFFF"/>
                </a:highlight>
              </a:rPr>
              <a:t>React-компоненти</a:t>
            </a:r>
            <a:r>
              <a:rPr lang="uk-UA" noProof="0" dirty="0">
                <a:highlight>
                  <a:srgbClr val="FFFFFF"/>
                </a:highlight>
              </a:rPr>
              <a:t>, сторінки, </a:t>
            </a:r>
            <a:r>
              <a:rPr lang="en-US" noProof="1">
                <a:highlight>
                  <a:srgbClr val="FFFFFF"/>
                </a:highlight>
              </a:rPr>
              <a:t>дашборди</a:t>
            </a:r>
            <a:r>
              <a:rPr lang="uk-UA" noProof="0" dirty="0">
                <a:highlight>
                  <a:srgbClr val="FFFFFF"/>
                </a:highlight>
              </a:rPr>
              <a:t>)</a:t>
            </a:r>
          </a:p>
          <a:p>
            <a:r>
              <a:rPr lang="uk-UA" noProof="0" dirty="0">
                <a:highlight>
                  <a:srgbClr val="FFFFFF"/>
                </a:highlight>
              </a:rPr>
              <a:t>Рівень бізнес-логіки (модулі бюджету, підписок, аналітики)</a:t>
            </a:r>
          </a:p>
          <a:p>
            <a:r>
              <a:rPr lang="uk-UA" noProof="0" dirty="0">
                <a:highlight>
                  <a:srgbClr val="FFFFFF"/>
                </a:highlight>
              </a:rPr>
              <a:t>API-рівень (Next.js API </a:t>
            </a:r>
            <a:r>
              <a:rPr lang="en-US" noProof="0" dirty="0">
                <a:highlight>
                  <a:srgbClr val="FFFFFF"/>
                </a:highlight>
              </a:rPr>
              <a:t>Routes</a:t>
            </a:r>
            <a:r>
              <a:rPr lang="uk-UA" noProof="0" dirty="0">
                <a:highlight>
                  <a:srgbClr val="FFFFFF"/>
                </a:highlight>
              </a:rPr>
              <a:t>)</a:t>
            </a:r>
          </a:p>
          <a:p>
            <a:r>
              <a:rPr lang="uk-UA" noProof="0" dirty="0">
                <a:highlight>
                  <a:srgbClr val="FFFFFF"/>
                </a:highlight>
              </a:rPr>
              <a:t>Рівень даних (</a:t>
            </a:r>
            <a:r>
              <a:rPr lang="en-US" noProof="0" dirty="0">
                <a:highlight>
                  <a:srgbClr val="FFFFFF"/>
                </a:highlight>
              </a:rPr>
              <a:t>MongoDB</a:t>
            </a:r>
            <a:r>
              <a:rPr lang="uk-UA" noProof="0" dirty="0">
                <a:highlight>
                  <a:srgbClr val="FFFFFF"/>
                </a:highlight>
              </a:rPr>
              <a:t> + </a:t>
            </a:r>
            <a:r>
              <a:rPr lang="en-US" noProof="0" dirty="0">
                <a:highlight>
                  <a:srgbClr val="FFFFFF"/>
                </a:highlight>
              </a:rPr>
              <a:t>Mongoose</a:t>
            </a:r>
            <a:r>
              <a:rPr lang="uk-UA" noProof="0" dirty="0">
                <a:highlight>
                  <a:srgbClr val="FFFFFF"/>
                </a:highlight>
              </a:rPr>
              <a:t>)</a:t>
            </a:r>
          </a:p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Авторизація реалізована через </a:t>
            </a:r>
            <a:r>
              <a:rPr lang="en-US" noProof="1">
                <a:highlight>
                  <a:srgbClr val="FFFFFF"/>
                </a:highlight>
              </a:rPr>
              <a:t>NextAuth</a:t>
            </a:r>
            <a:r>
              <a:rPr lang="uk-UA" noProof="0" dirty="0">
                <a:highlight>
                  <a:srgbClr val="FFFFFF"/>
                </a:highlight>
              </a:rPr>
              <a:t>.</a:t>
            </a:r>
          </a:p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Обмін даними відбувається через REST API у форматі JSON.</a:t>
            </a:r>
          </a:p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Реалізовано інтеграції із зовнішніми сервісами (курси валют, платежі, </a:t>
            </a:r>
            <a:r>
              <a:rPr lang="en-US" noProof="0" dirty="0">
                <a:highlight>
                  <a:srgbClr val="FFFFFF"/>
                </a:highlight>
              </a:rPr>
              <a:t>webhook-и</a:t>
            </a:r>
            <a:r>
              <a:rPr lang="uk-UA" noProof="0" dirty="0">
                <a:highlight>
                  <a:srgbClr val="FFFFFF"/>
                </a:highlight>
              </a:rPr>
              <a:t>).</a:t>
            </a:r>
          </a:p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Архітектура забезпечує масштабованість, модульність та легкість супроводу.</a:t>
            </a: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endParaRPr lang="uk-UA" noProof="0" dirty="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Дизайн системи</a:t>
            </a:r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9358CF-BA04-3DAB-4C2A-4B39F8F7173D}"/>
              </a:ext>
            </a:extLst>
          </p:cNvPr>
          <p:cNvSpPr txBox="1"/>
          <p:nvPr/>
        </p:nvSpPr>
        <p:spPr>
          <a:xfrm>
            <a:off x="5265467" y="739262"/>
            <a:ext cx="40940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sz="16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Послідовність роботи: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авторизація користувача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отримання даних через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перевірка та завантаження з кешу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оновлення даних із сервера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відображення результатів у UI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79D04-7F8B-80FE-F4A8-36F72535E2D5}"/>
              </a:ext>
            </a:extLst>
          </p:cNvPr>
          <p:cNvSpPr txBox="1"/>
          <p:nvPr/>
        </p:nvSpPr>
        <p:spPr>
          <a:xfrm>
            <a:off x="3130997" y="2944355"/>
            <a:ext cx="34198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sz="1600" noProof="0" dirty="0"/>
              <a:t>Технології: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/>
              <a:t>Next.js, </a:t>
            </a:r>
            <a:r>
              <a:rPr lang="uk-UA" sz="1600" noProof="1"/>
              <a:t>React, TypeScript </a:t>
            </a:r>
            <a:endParaRPr lang="uk-UA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1"/>
              <a:t>MongoDB</a:t>
            </a:r>
            <a:r>
              <a:rPr lang="uk-UA" sz="1600" noProof="0" dirty="0"/>
              <a:t>, </a:t>
            </a:r>
            <a:r>
              <a:rPr lang="uk-UA" sz="1600" noProof="1"/>
              <a:t>Mongoose</a:t>
            </a:r>
            <a:r>
              <a:rPr lang="uk-UA" sz="1600" noProof="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1"/>
              <a:t>NextAuth</a:t>
            </a:r>
            <a:r>
              <a:rPr lang="uk-UA" sz="1600" noProof="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/>
              <a:t>REST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/>
              <a:t>зовнішні сервіси (</a:t>
            </a:r>
            <a:r>
              <a:rPr lang="uk-UA" sz="1600" noProof="1"/>
              <a:t>LiqPay</a:t>
            </a:r>
            <a:r>
              <a:rPr lang="uk-UA" sz="1600" noProof="0" dirty="0"/>
              <a:t>, валютні API)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574C8E-BD9E-5CD8-0D46-25CFB86A051F}"/>
              </a:ext>
            </a:extLst>
          </p:cNvPr>
          <p:cNvSpPr txBox="1"/>
          <p:nvPr/>
        </p:nvSpPr>
        <p:spPr>
          <a:xfrm>
            <a:off x="268925" y="711017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sz="1600" noProof="0" dirty="0"/>
              <a:t>Методи: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/>
              <a:t>модульна архітектура побудови застосунку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1"/>
              <a:t>кешування</a:t>
            </a:r>
            <a:r>
              <a:rPr lang="uk-UA" sz="1600" noProof="0" dirty="0"/>
              <a:t> даних для підвищення продуктивності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/>
              <a:t>реактивне оновлення інтерфейсу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0" dirty="0"/>
              <a:t>обробка API та </a:t>
            </a:r>
            <a:r>
              <a:rPr lang="uk-UA" sz="1600" noProof="1"/>
              <a:t>webhook-подій</a:t>
            </a:r>
            <a:r>
              <a:rPr lang="uk-UA" sz="1600" noProof="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noProof="1"/>
              <a:t>валідація</a:t>
            </a:r>
            <a:r>
              <a:rPr lang="uk-UA" sz="1600" noProof="0" dirty="0"/>
              <a:t> та захист даних користувача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Приклад реалізації</a:t>
            </a:r>
          </a:p>
        </p:txBody>
      </p:sp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/>
        </p:nvSpPr>
        <p:spPr>
          <a:xfrm>
            <a:off x="8732520" y="4606349"/>
            <a:ext cx="41148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BC80134-E23E-305B-12FF-2BC4A1721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25" y="719755"/>
            <a:ext cx="4201705" cy="124495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8FF587F-0AF8-D0FF-CEAD-4ACE96859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25" y="3175496"/>
            <a:ext cx="4201705" cy="120399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BC72FFF-A8D3-56F5-B9D1-37BEF18AE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926" y="1966415"/>
            <a:ext cx="4402074" cy="120908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4644C0E-F30F-6E66-80B6-3D3EA5C31BAD}"/>
              </a:ext>
            </a:extLst>
          </p:cNvPr>
          <p:cNvSpPr txBox="1"/>
          <p:nvPr/>
        </p:nvSpPr>
        <p:spPr>
          <a:xfrm>
            <a:off x="87966" y="200615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uk-UA" b="1" i="0" noProof="0" dirty="0">
                <a:solidFill>
                  <a:srgbClr val="000000"/>
                </a:solidFill>
                <a:effectLst/>
              </a:rPr>
              <a:t>Рисунок 1 – </a:t>
            </a:r>
            <a:r>
              <a:rPr lang="ru-RU" b="1" i="0" noProof="0" dirty="0">
                <a:solidFill>
                  <a:srgbClr val="000000"/>
                </a:solidFill>
                <a:effectLst/>
              </a:rPr>
              <a:t>Д</a:t>
            </a:r>
            <a:r>
              <a:rPr lang="uk-UA" b="1" i="0" noProof="0" dirty="0" err="1">
                <a:solidFill>
                  <a:srgbClr val="000000"/>
                </a:solidFill>
                <a:effectLst/>
              </a:rPr>
              <a:t>іаграма</a:t>
            </a:r>
            <a:r>
              <a:rPr lang="uk-UA" b="1" i="0" noProof="0" dirty="0">
                <a:solidFill>
                  <a:srgbClr val="000000"/>
                </a:solidFill>
                <a:effectLst/>
              </a:rPr>
              <a:t> розподілу доходів/витрат (рисунок виконано самостійно)</a:t>
            </a:r>
            <a:endParaRPr lang="uk-UA" noProof="0" dirty="0">
              <a:effectLst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DCD47D-5C75-7454-5BF1-5F18CBBAE272}"/>
              </a:ext>
            </a:extLst>
          </p:cNvPr>
          <p:cNvSpPr txBox="1"/>
          <p:nvPr/>
        </p:nvSpPr>
        <p:spPr>
          <a:xfrm>
            <a:off x="4656963" y="320090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uk-UA" b="1" i="0" noProof="0" dirty="0">
                <a:solidFill>
                  <a:srgbClr val="000000"/>
                </a:solidFill>
                <a:effectLst/>
              </a:rPr>
              <a:t>Рисунок 2 – Діаграма доходів/витрат за категоріями (рисунок виконано самостійно)</a:t>
            </a:r>
            <a:endParaRPr lang="uk-UA" noProof="0" dirty="0">
              <a:effectLst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CB29C0-6B54-85AB-6011-E3ED1E829246}"/>
              </a:ext>
            </a:extLst>
          </p:cNvPr>
          <p:cNvSpPr txBox="1"/>
          <p:nvPr/>
        </p:nvSpPr>
        <p:spPr>
          <a:xfrm>
            <a:off x="62346" y="4350315"/>
            <a:ext cx="4614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b="1" i="0" noProof="0" dirty="0">
                <a:solidFill>
                  <a:srgbClr val="000000"/>
                </a:solidFill>
                <a:effectLst/>
              </a:rPr>
              <a:t>Рисунок </a:t>
            </a:r>
            <a:r>
              <a:rPr lang="uk-UA" b="1" dirty="0"/>
              <a:t>3</a:t>
            </a:r>
            <a:r>
              <a:rPr lang="uk-UA" b="1" i="0" noProof="0" dirty="0">
                <a:solidFill>
                  <a:srgbClr val="000000"/>
                </a:solidFill>
                <a:effectLst/>
              </a:rPr>
              <a:t> – </a:t>
            </a:r>
            <a:r>
              <a:rPr lang="uk-UA" b="1" dirty="0"/>
              <a:t>Графік доходів/витрат за обраний період </a:t>
            </a:r>
            <a:r>
              <a:rPr lang="uk-UA" b="1" i="0" noProof="0" dirty="0">
                <a:solidFill>
                  <a:srgbClr val="000000"/>
                </a:solidFill>
                <a:effectLst/>
              </a:rPr>
              <a:t>(рисунок виконано самостійно)</a:t>
            </a:r>
            <a:endParaRPr lang="uk-UA" noProof="0" dirty="0"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Інтерфейс користувача </a:t>
            </a:r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8636000" y="4606349"/>
            <a:ext cx="4262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98F793-E950-51EC-A487-6818EF7B019C}"/>
              </a:ext>
            </a:extLst>
          </p:cNvPr>
          <p:cNvSpPr txBox="1"/>
          <p:nvPr/>
        </p:nvSpPr>
        <p:spPr>
          <a:xfrm>
            <a:off x="0" y="3440207"/>
            <a:ext cx="26141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uk-UA" b="1" i="0" noProof="0" dirty="0">
                <a:solidFill>
                  <a:srgbClr val="000000"/>
                </a:solidFill>
                <a:effectLst/>
              </a:rPr>
              <a:t>Рисунок 1 – Головна сторінка бюджету (рисунок виконано самостійно)</a:t>
            </a:r>
            <a:endParaRPr lang="uk-UA" noProof="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AA312-6FEE-AF88-2FA5-A1185D770E8A}"/>
              </a:ext>
            </a:extLst>
          </p:cNvPr>
          <p:cNvSpPr txBox="1"/>
          <p:nvPr/>
        </p:nvSpPr>
        <p:spPr>
          <a:xfrm>
            <a:off x="2839255" y="3912836"/>
            <a:ext cx="2842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uk-UA" b="1" i="0" noProof="0" dirty="0">
                <a:solidFill>
                  <a:srgbClr val="000000"/>
                </a:solidFill>
                <a:effectLst/>
              </a:rPr>
              <a:t>Рисунок 2 – Головна сторінка аналітики (рисунок виконано самостійно)</a:t>
            </a:r>
            <a:endParaRPr lang="uk-UA" noProof="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96E0E1-3652-C8DA-AAAF-F99F47E07252}"/>
              </a:ext>
            </a:extLst>
          </p:cNvPr>
          <p:cNvSpPr txBox="1"/>
          <p:nvPr/>
        </p:nvSpPr>
        <p:spPr>
          <a:xfrm>
            <a:off x="6047445" y="2949786"/>
            <a:ext cx="28425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uk-UA" b="1" i="0" noProof="0" dirty="0">
                <a:solidFill>
                  <a:srgbClr val="000000"/>
                </a:solidFill>
                <a:effectLst/>
              </a:rPr>
              <a:t>Рисунок 3 – Головна сторінка підписок (рисунок виконано самостійно)</a:t>
            </a:r>
            <a:endParaRPr lang="uk-UA" noProof="0" dirty="0"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1A49DB-153C-6C46-C11F-953F0FDC9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4" y="809935"/>
            <a:ext cx="2433874" cy="263669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72982C-BAEB-9EE6-FCFE-E27FEF832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599" y="341900"/>
            <a:ext cx="2654643" cy="24067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6ACE1C-C420-1104-7633-D5713029D6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498" y="1293953"/>
            <a:ext cx="2628317" cy="23944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Тестування</a:t>
            </a:r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/>
        </p:nvSpPr>
        <p:spPr>
          <a:xfrm>
            <a:off x="8636000" y="4606349"/>
            <a:ext cx="4262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13713945-965C-0971-E7B6-431537C77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616816"/>
              </p:ext>
            </p:extLst>
          </p:nvPr>
        </p:nvGraphicFramePr>
        <p:xfrm>
          <a:off x="534273" y="696628"/>
          <a:ext cx="8255250" cy="3557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750">
                  <a:extLst>
                    <a:ext uri="{9D8B030D-6E8A-4147-A177-3AD203B41FA5}">
                      <a16:colId xmlns:a16="http://schemas.microsoft.com/office/drawing/2014/main" val="611212907"/>
                    </a:ext>
                  </a:extLst>
                </a:gridCol>
                <a:gridCol w="2751750">
                  <a:extLst>
                    <a:ext uri="{9D8B030D-6E8A-4147-A177-3AD203B41FA5}">
                      <a16:colId xmlns:a16="http://schemas.microsoft.com/office/drawing/2014/main" val="699202707"/>
                    </a:ext>
                  </a:extLst>
                </a:gridCol>
                <a:gridCol w="2751750">
                  <a:extLst>
                    <a:ext uri="{9D8B030D-6E8A-4147-A177-3AD203B41FA5}">
                      <a16:colId xmlns:a16="http://schemas.microsoft.com/office/drawing/2014/main" val="2493256302"/>
                    </a:ext>
                  </a:extLst>
                </a:gridCol>
              </a:tblGrid>
              <a:tr h="592979"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Тип тестування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Що перевірялось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337816"/>
                  </a:ext>
                </a:extLst>
              </a:tr>
              <a:tr h="592979"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Функції та утиліти (валюти, LiqPay, обчислення)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Успішно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495442"/>
                  </a:ext>
                </a:extLst>
              </a:tr>
              <a:tr h="592979"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API-роути та взаємодія з MongoDB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Успішно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076965"/>
                  </a:ext>
                </a:extLst>
              </a:tr>
              <a:tr h="592979"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E2E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Користувацькі сценарії (логін, бюджет, підписки)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Успішно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63355"/>
                  </a:ext>
                </a:extLst>
              </a:tr>
              <a:tr h="592979"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API / Webhook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Обробка платежів та зовнішніх подій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Успішно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946771"/>
                  </a:ext>
                </a:extLst>
              </a:tr>
              <a:tr h="592979"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Static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TypeScript, ESLint, Prettier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1"/>
                        <a:t>Без критичних помилок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234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3200" noProof="0" dirty="0"/>
              <a:t>Підсумки </a:t>
            </a:r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1"/>
          </p:nvPr>
        </p:nvSpPr>
        <p:spPr>
          <a:xfrm>
            <a:off x="311700" y="796013"/>
            <a:ext cx="8520600" cy="378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uk-UA" noProof="0" dirty="0"/>
              <a:t>	Розроблено </a:t>
            </a:r>
            <a:r>
              <a:rPr lang="uk-UA" noProof="1"/>
              <a:t>вебзастосунок Moneta </a:t>
            </a:r>
            <a:r>
              <a:rPr lang="uk-UA" noProof="0" dirty="0"/>
              <a:t>для управління особистими фінансами. Реалізовано основні функції: облік доходів і витрат, контроль підписок, аналітика та нагадування. Спроєктовано модульну архітектуру з розділенням клієнтської, серверної та рівня даних. Забезпечено безпечну роботу з даними та авторизацію користувачів. Реалізовано візуалізацію фінансових показників у зручному інтерфейсі. Проведено тестування основних модулів і ключових сценаріїв роботи системи. Досягнуто мети роботи - створено функціональну та розширювану систему фінансового менеджменту.</a:t>
            </a:r>
            <a:endParaRPr lang="uk-UA" noProof="0" dirty="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61" name="Google Shape;1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8648700" y="4606349"/>
            <a:ext cx="4135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1400" b="0" i="0" u="none" strike="noStrike" cap="none" noProof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lang="uk-UA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795</Words>
  <Application>Microsoft Office PowerPoint</Application>
  <PresentationFormat>Екран (16:9)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7" baseType="lpstr">
      <vt:lpstr>Open Sans</vt:lpstr>
      <vt:lpstr>Economica</vt:lpstr>
      <vt:lpstr>Arial</vt:lpstr>
      <vt:lpstr>Шаблон презентації кваліфікаційної роботи магістрів</vt:lpstr>
      <vt:lpstr>Тема роботи 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створеного програмного забезпечення (Ч.1)</vt:lpstr>
      <vt:lpstr>Архітектура створеного програмного забезпечення (Ч.2)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Денис Кушнирук</cp:lastModifiedBy>
  <cp:revision>13</cp:revision>
  <dcterms:modified xsi:type="dcterms:W3CDTF">2026-06-24T15:22:47Z</dcterms:modified>
</cp:coreProperties>
</file>